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0" r:id="rId1"/>
  </p:sldMasterIdLst>
  <p:notesMasterIdLst>
    <p:notesMasterId r:id="rId12"/>
  </p:notesMasterIdLst>
  <p:sldIdLst>
    <p:sldId id="267" r:id="rId2"/>
    <p:sldId id="266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12192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98" d="100"/>
          <a:sy n="98" d="100"/>
        </p:scale>
        <p:origin x="60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879813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1C5ED3-067C-8782-BF4D-0B9736FC2B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CEC68AF-0733-66E5-DC41-28927662B8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E979848-53AD-3F30-764B-6F24C79D03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d'alignement sur les attentes.
[Sources]
- Capture des attentes fournie par l'utilisateur (image)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AE3CD5-F382-7B1E-0C8E-101EEB072DE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977104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Code: data_base_riot.py, ingame_tab.py, interface.py (imports + logique de backoff)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Code: data_base_riot.py (CSV global)
- Code: ingame_tab.py (LiveClient + spectator)
- Code: interface.py (tabs + affichages)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data_base_riot.py (safe_call, collect_dataset, CSV participants/matches)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ingame_tab.py (scan_live, LiveClient probe, spectator fallback, tables alliés/ennemis)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interface.py (MainWindow tabs, MetaTab tier list, ProfileTab pie chart, thème QSS)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data_base_riot.py (safe_call + batch CSV)
- ingame_tab.py (fallback + safe_call)
- interface.py (lecture/normalisation CSV + UI tables compactes)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Fiche projet (table E1..E10)
- interface.py (tabs, MetaTab, ProfileTab)
- ingame_tab.py (scan des 10 joueurs)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Fiche projet (table E1..E10)
- Lecture des scripts fournis (absence de recommandation draft/sorts/patche/Qt Designer/multi-langue)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03504" y="770467"/>
            <a:ext cx="10782300" cy="3352800"/>
          </a:xfrm>
        </p:spPr>
        <p:txBody>
          <a:bodyPr anchor="b">
            <a:noAutofit/>
          </a:bodyPr>
          <a:lstStyle>
            <a:lvl1pPr algn="l">
              <a:lnSpc>
                <a:spcPct val="80000"/>
              </a:lnSpc>
              <a:defRPr sz="8800" spc="-120" baseline="0">
                <a:solidFill>
                  <a:srgbClr val="FFFFFF"/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67512" y="4206876"/>
            <a:ext cx="9228201" cy="1645920"/>
          </a:xfrm>
        </p:spPr>
        <p:txBody>
          <a:bodyPr>
            <a:normAutofit/>
          </a:bodyPr>
          <a:lstStyle>
            <a:lvl1pPr marL="0" indent="0" algn="l">
              <a:buNone/>
              <a:defRPr sz="3200">
                <a:solidFill>
                  <a:schemeClr val="bg1"/>
                </a:solidFill>
                <a:latin typeface="+mj-lt"/>
              </a:defRPr>
            </a:lvl1pPr>
            <a:lvl2pPr marL="457200" indent="0" algn="ctr">
              <a:buNone/>
              <a:defRPr sz="28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fld id="{5586B75A-687E-405C-8A0B-8D00578BA2C3}" type="datetimeFigureOut">
              <a:rPr lang="en-US" dirty="0"/>
              <a:pPr/>
              <a:t>2/10/2026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5000"/>
                  </a:srgbClr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1454896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2D3E9E-A95C-48F2-B4BF-A71542E0BE9A}" type="datetimeFigureOut">
              <a:rPr lang="en-US" dirty="0"/>
              <a:t>2/10/2026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8674651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3504" y="767419"/>
            <a:ext cx="10780776" cy="3355848"/>
          </a:xfrm>
        </p:spPr>
        <p:txBody>
          <a:bodyPr anchor="b">
            <a:normAutofit/>
          </a:bodyPr>
          <a:lstStyle>
            <a:lvl1pPr>
              <a:lnSpc>
                <a:spcPct val="80000"/>
              </a:lnSpc>
              <a:defRPr sz="8800" b="0" baseline="0">
                <a:solidFill>
                  <a:schemeClr val="accent1"/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7512" y="4204209"/>
            <a:ext cx="9226296" cy="1645920"/>
          </a:xfrm>
        </p:spPr>
        <p:txBody>
          <a:bodyPr anchor="t">
            <a:normAutofit/>
          </a:bodyPr>
          <a:lstStyle>
            <a:lvl1pPr marL="0" indent="0">
              <a:buNone/>
              <a:defRPr sz="3200">
                <a:solidFill>
                  <a:schemeClr val="tx1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2/10/2026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84972922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6656" y="1998134"/>
            <a:ext cx="4663440" cy="376732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11330" y="1998134"/>
            <a:ext cx="4663440" cy="376732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2952B5-7A2F-4CC8-B7CE-9234E21C2837}" type="datetimeFigureOut">
              <a:rPr lang="en-US" dirty="0"/>
              <a:t>2/10/2026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68211588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6656" y="2040467"/>
            <a:ext cx="4663440" cy="723400"/>
          </a:xfrm>
        </p:spPr>
        <p:txBody>
          <a:bodyPr anchor="ctr">
            <a:normAutofit/>
          </a:bodyPr>
          <a:lstStyle>
            <a:lvl1pPr marL="0" indent="0">
              <a:buNone/>
              <a:defRPr sz="2200" b="0"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6656" y="2753084"/>
            <a:ext cx="4663440" cy="32004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07608" y="2038435"/>
            <a:ext cx="4663440" cy="722376"/>
          </a:xfrm>
        </p:spPr>
        <p:txBody>
          <a:bodyPr anchor="ctr">
            <a:normAutofit/>
          </a:bodyPr>
          <a:lstStyle>
            <a:lvl1pPr marL="0" indent="0">
              <a:buNone/>
              <a:defRPr sz="2200" b="0"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007608" y="2750990"/>
            <a:ext cx="4663440" cy="32004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1DA07A-9201-4B4B-BAF2-015AFA30F520}" type="datetimeFigureOut">
              <a:rPr lang="en-US" dirty="0"/>
              <a:t>2/10/2026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9072128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7E00A-486F-4252-8B1D-E32645521F49}" type="datetimeFigureOut">
              <a:rPr lang="en-US" dirty="0"/>
              <a:t>2/10/2026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38407561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DF5F92-E675-4B36-9A60-69A962A68675}" type="datetimeFigureOut">
              <a:rPr lang="en-US" dirty="0"/>
              <a:t>2/10/2026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96291095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620000" y="0"/>
            <a:ext cx="457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Title 8"/>
          <p:cNvSpPr>
            <a:spLocks noGrp="1"/>
          </p:cNvSpPr>
          <p:nvPr>
            <p:ph type="title"/>
          </p:nvPr>
        </p:nvSpPr>
        <p:spPr>
          <a:xfrm>
            <a:off x="8261404" y="542282"/>
            <a:ext cx="3383280" cy="1920240"/>
          </a:xfrm>
        </p:spPr>
        <p:txBody>
          <a:bodyPr anchor="b">
            <a:noAutofit/>
          </a:bodyPr>
          <a:lstStyle>
            <a:lvl1pPr>
              <a:lnSpc>
                <a:spcPct val="85000"/>
              </a:lnSpc>
              <a:defRPr sz="4000">
                <a:solidFill>
                  <a:srgbClr val="FFFFFF"/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2000" y="762000"/>
            <a:ext cx="6096000" cy="45720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275982" y="2511813"/>
            <a:ext cx="3398520" cy="3126987"/>
          </a:xfrm>
        </p:spPr>
        <p:txBody>
          <a:bodyPr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800">
                <a:solidFill>
                  <a:srgbClr val="262626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6E2C9B-5FA2-460D-9BE7-B0812FC2A6FF}" type="datetimeFigureOut">
              <a:rPr lang="en-US" dirty="0"/>
              <a:t>2/10/2026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0000"/>
                  </a:srgbClr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5724813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9224" y="5418667"/>
            <a:ext cx="10780776" cy="613283"/>
          </a:xfrm>
        </p:spPr>
        <p:txBody>
          <a:bodyPr anchor="b">
            <a:normAutofit/>
          </a:bodyPr>
          <a:lstStyle>
            <a:lvl1pPr>
              <a:defRPr sz="3200" b="0">
                <a:solidFill>
                  <a:srgbClr val="FFFFFF"/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12192000" cy="5330952"/>
          </a:xfrm>
          <a:solidFill>
            <a:schemeClr val="accent1">
              <a:lumMod val="40000"/>
              <a:lumOff val="60000"/>
            </a:schemeClr>
          </a:solidFill>
        </p:spPr>
        <p:txBody>
          <a:bodyPr anchor="t"/>
          <a:lstStyle>
            <a:lvl1pPr marL="0" indent="0" algn="ctr">
              <a:spcBef>
                <a:spcPts val="800"/>
              </a:spcBef>
              <a:buNone/>
              <a:defRPr sz="3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6656" y="5909735"/>
            <a:ext cx="9229344" cy="533400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sz="1400">
                <a:solidFill>
                  <a:srgbClr val="262626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12" name="Date Placeholder 1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fld id="{5586B75A-687E-405C-8A0B-8D00578BA2C3}" type="datetimeFigureOut">
              <a:rPr lang="en-US" dirty="0"/>
              <a:pPr/>
              <a:t>2/10/2026</a:t>
            </a:fld>
            <a:endParaRPr lang="en-US" dirty="0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4" name="Slide Number Placeholder 1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5000"/>
                  </a:srgbClr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1992199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E5243-F52A-4D37-9694-EB26C6C31910}" type="datetimeFigureOut">
              <a:rPr lang="en-US" dirty="0"/>
              <a:t>2/10/2026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5502606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43950" y="695325"/>
            <a:ext cx="2628900" cy="4800600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1525" y="714375"/>
            <a:ext cx="7734300" cy="5400675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77B6E1-634A-48DC-9E8B-D894023267EF}" type="datetimeFigureOut">
              <a:rPr lang="en-US" dirty="0"/>
              <a:t>2/10/2026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8121543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832009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57224" y="499533"/>
            <a:ext cx="10772775" cy="165819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6656" y="2011680"/>
            <a:ext cx="10753725" cy="37661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5800" y="6412447"/>
            <a:ext cx="41148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50">
                <a:solidFill>
                  <a:schemeClr val="tx1">
                    <a:alpha val="80000"/>
                  </a:schemeClr>
                </a:solidFill>
              </a:defRPr>
            </a:lvl1pPr>
          </a:lstStyle>
          <a:p>
            <a:fld id="{5586B75A-687E-405C-8A0B-8D00578BA2C3}" type="datetimeFigureOut">
              <a:rPr lang="en-US" dirty="0"/>
              <a:pPr/>
              <a:t>2/10/2026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554697"/>
            <a:ext cx="50292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50" cap="all" baseline="0">
                <a:solidFill>
                  <a:schemeClr val="tx1">
                    <a:alpha val="8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63926" y="5876412"/>
            <a:ext cx="2926080" cy="1397039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300" b="0">
                <a:ln>
                  <a:noFill/>
                </a:ln>
                <a:solidFill>
                  <a:schemeClr val="accent1">
                    <a:alpha val="25000"/>
                  </a:schemeClr>
                </a:solidFill>
                <a:latin typeface="+mj-lt"/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4070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12"/>
  </p:sldLayoutIdLst>
  <p:hf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5400" kern="1200" spc="-120" baseline="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85000"/>
        </a:lnSpc>
        <a:spcBef>
          <a:spcPts val="1300"/>
        </a:spcBef>
        <a:buFont typeface="Arial" pitchFamily="34" charset="0"/>
        <a:buChar char=" "/>
        <a:defRPr sz="2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347472" indent="-342900" algn="l" defTabSz="914400" rtl="0" eaLnBrk="1" latinLnBrk="0" hangingPunct="1">
        <a:lnSpc>
          <a:spcPct val="85000"/>
        </a:lnSpc>
        <a:spcBef>
          <a:spcPts val="600"/>
        </a:spcBef>
        <a:buFont typeface="Arial" pitchFamily="34" charset="0"/>
        <a:buChar char=" "/>
        <a:defRPr sz="2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548640" indent="-548640" algn="l" defTabSz="914400" rtl="0" eaLnBrk="1" latinLnBrk="0" hangingPunct="1">
        <a:lnSpc>
          <a:spcPct val="85000"/>
        </a:lnSpc>
        <a:spcBef>
          <a:spcPts val="600"/>
        </a:spcBef>
        <a:buFont typeface="Arial" pitchFamily="34" charset="0"/>
        <a:buChar char=" "/>
        <a:defRPr sz="2000" i="1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822960" indent="-822960" algn="l" defTabSz="914400" rtl="0" eaLnBrk="1" latinLnBrk="0" hangingPunct="1">
        <a:lnSpc>
          <a:spcPct val="85000"/>
        </a:lnSpc>
        <a:spcBef>
          <a:spcPts val="600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097280" indent="-1097280" algn="l" defTabSz="914400" rtl="0" eaLnBrk="1" latinLnBrk="0" hangingPunct="1">
        <a:lnSpc>
          <a:spcPct val="85000"/>
        </a:lnSpc>
        <a:spcBef>
          <a:spcPts val="600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200000" indent="-228600" algn="l" defTabSz="914400" rtl="0" eaLnBrk="1" latinLnBrk="0" hangingPunct="1">
        <a:lnSpc>
          <a:spcPct val="85000"/>
        </a:lnSpc>
        <a:spcBef>
          <a:spcPts val="600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6pPr>
      <a:lvl7pPr marL="1400000" indent="-228600" algn="l" defTabSz="914400" rtl="0" eaLnBrk="1" latinLnBrk="0" hangingPunct="1">
        <a:lnSpc>
          <a:spcPct val="85000"/>
        </a:lnSpc>
        <a:spcBef>
          <a:spcPts val="600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7pPr>
      <a:lvl8pPr marL="1600000" indent="-228600" algn="l" defTabSz="914400" rtl="0" eaLnBrk="1" latinLnBrk="0" hangingPunct="1">
        <a:lnSpc>
          <a:spcPct val="85000"/>
        </a:lnSpc>
        <a:spcBef>
          <a:spcPts val="600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8pPr>
      <a:lvl9pPr marL="1800000" indent="-228600" algn="l" defTabSz="914400" rtl="0" eaLnBrk="1" latinLnBrk="0" hangingPunct="1">
        <a:lnSpc>
          <a:spcPct val="85000"/>
        </a:lnSpc>
        <a:spcBef>
          <a:spcPts val="600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B034074-B27C-8320-1E82-0201191BBFC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FR" altLang="zh-CN" dirty="0"/>
              <a:t>Super LOL Assisatant		</a:t>
            </a:r>
            <a:endParaRPr lang="zh-CN" altLang="en-US" dirty="0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F08292C5-2D99-E59C-0634-A8FC51B6AEA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fr-FR" altLang="zh-CN" dirty="0"/>
              <a:t>Shutian LEI, Lixiang ZHANG </a:t>
            </a:r>
            <a:endParaRPr lang="zh-CN" altLang="en-US" dirty="0"/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F94B3724-C48B-860B-85DF-78305A4873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549213"/>
            <a:ext cx="3739473" cy="14664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EAEAEA"/>
            </a:solidFill>
            <a:miter lim="800000"/>
          </a:ln>
          <a:effectLst>
            <a:reflection blurRad="12700" stA="33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</p:pic>
      <p:sp>
        <p:nvSpPr>
          <p:cNvPr id="8" name="Shape 16">
            <a:extLst>
              <a:ext uri="{FF2B5EF4-FFF2-40B4-BE49-F238E27FC236}">
                <a16:creationId xmlns:a16="http://schemas.microsoft.com/office/drawing/2014/main" id="{0161D02A-E11F-71EE-CA3C-2F822B76540F}"/>
              </a:ext>
            </a:extLst>
          </p:cNvPr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r>
              <a:rPr lang="fr-FR" altLang="zh-CN" dirty="0"/>
              <a:t>1</a:t>
            </a:r>
            <a:endParaRPr lang="zh-CN" altLang="en-US" dirty="0"/>
          </a:p>
        </p:txBody>
      </p:sp>
      <p:sp>
        <p:nvSpPr>
          <p:cNvPr id="9" name="Text 17">
            <a:extLst>
              <a:ext uri="{FF2B5EF4-FFF2-40B4-BE49-F238E27FC236}">
                <a16:creationId xmlns:a16="http://schemas.microsoft.com/office/drawing/2014/main" id="{B9D487BA-28FA-DC45-F140-F799A2636458}"/>
              </a:ext>
            </a:extLst>
          </p:cNvPr>
          <p:cNvSpPr/>
          <p:nvPr/>
        </p:nvSpPr>
        <p:spPr>
          <a:xfrm>
            <a:off x="548640" y="6583680"/>
            <a:ext cx="11155680" cy="201168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SuperLOL Assistant — Présentation </a:t>
            </a:r>
            <a:r>
              <a:rPr lang="en-US" sz="1000" dirty="0" err="1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projet</a:t>
            </a:r>
            <a:r>
              <a:rPr lang="en-US" sz="10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11965331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5DA9560-691C-0C11-CA6B-7B1EFEF195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CE6D1F1B-8B43-2308-4EF2-D0ABE0CA9195}"/>
              </a:ext>
            </a:extLst>
          </p:cNvPr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C5D8B"/>
          </a:solidFill>
          <a:ln w="12700">
            <a:solidFill>
              <a:srgbClr val="0C5D8B"/>
            </a:solidFill>
            <a:prstDash val="solid"/>
          </a:ln>
        </p:spPr>
        <p:txBody>
          <a:bodyPr/>
          <a:lstStyle/>
          <a:p>
            <a:endParaRPr lang="zh-CN" altLang="en-US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98FBA0E-9861-6D10-3C73-40FB769FB140}"/>
              </a:ext>
            </a:extLst>
          </p:cNvPr>
          <p:cNvSpPr/>
          <p:nvPr/>
        </p:nvSpPr>
        <p:spPr>
          <a:xfrm>
            <a:off x="548640" y="109728"/>
            <a:ext cx="11155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 err="1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Sommaire</a:t>
            </a:r>
            <a:endParaRPr lang="en-US" sz="2400" dirty="0"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0E7C0CDD-8AD8-E746-8AEF-437691DFE708}"/>
              </a:ext>
            </a:extLst>
          </p:cNvPr>
          <p:cNvSpPr/>
          <p:nvPr/>
        </p:nvSpPr>
        <p:spPr>
          <a:xfrm>
            <a:off x="687745" y="911481"/>
            <a:ext cx="11116769" cy="5166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3EC"/>
            </a:solidFill>
            <a:prstDash val="solid"/>
          </a:ln>
          <a:effectLst>
            <a:outerShdw blurRad="25400" dist="127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ADBF5AE8-DB04-0CD5-256F-F972E005B502}"/>
              </a:ext>
            </a:extLst>
          </p:cNvPr>
          <p:cNvSpPr/>
          <p:nvPr/>
        </p:nvSpPr>
        <p:spPr>
          <a:xfrm>
            <a:off x="1051560" y="1828994"/>
            <a:ext cx="5913444" cy="406888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20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Contexte + objectif de </a:t>
            </a:r>
            <a:r>
              <a:rPr lang="en-US" sz="2000" dirty="0" err="1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l’outil</a:t>
            </a:r>
            <a:r>
              <a:rPr lang="en-US" sz="20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</a:t>
            </a:r>
            <a:endParaRPr lang="en-US" sz="20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20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Choix techniques (packages) + pourquoi.</a:t>
            </a:r>
            <a:endParaRPr lang="en-US" sz="20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20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Architecture (3 scripts) + flux de données.</a:t>
            </a:r>
            <a:endParaRPr lang="en-US" sz="20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20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Bilan cahier des charges : fait / non fait / </a:t>
            </a:r>
            <a:r>
              <a:rPr lang="en-US" sz="2000" dirty="0" err="1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partiel</a:t>
            </a:r>
            <a:endParaRPr lang="en-US" sz="2000" dirty="0"/>
          </a:p>
        </p:txBody>
      </p:sp>
      <p:sp>
        <p:nvSpPr>
          <p:cNvPr id="19" name="Shape 16">
            <a:extLst>
              <a:ext uri="{FF2B5EF4-FFF2-40B4-BE49-F238E27FC236}">
                <a16:creationId xmlns:a16="http://schemas.microsoft.com/office/drawing/2014/main" id="{49D7A33C-9534-DA98-F629-2A81D91AE53F}"/>
              </a:ext>
            </a:extLst>
          </p:cNvPr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6F8FA"/>
          </a:solidFill>
          <a:ln w="12700">
            <a:solidFill>
              <a:srgbClr val="D9E3EC"/>
            </a:solidFill>
            <a:prstDash val="solid"/>
          </a:ln>
        </p:spPr>
        <p:txBody>
          <a:bodyPr/>
          <a:lstStyle/>
          <a:p>
            <a:r>
              <a:rPr lang="fr-FR" altLang="zh-CN" dirty="0"/>
              <a:t>2</a:t>
            </a:r>
            <a:endParaRPr lang="zh-CN" altLang="en-US" dirty="0"/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2FF0EEDD-01D1-A777-01BB-E5734B7B11B0}"/>
              </a:ext>
            </a:extLst>
          </p:cNvPr>
          <p:cNvSpPr/>
          <p:nvPr/>
        </p:nvSpPr>
        <p:spPr>
          <a:xfrm>
            <a:off x="548640" y="6583680"/>
            <a:ext cx="11155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SuperLOL Assistant — Présentation </a:t>
            </a:r>
            <a:r>
              <a:rPr lang="en-US" sz="1000" dirty="0" err="1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projet</a:t>
            </a:r>
            <a:r>
              <a:rPr lang="en-US" sz="10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29962245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C5D8B"/>
          </a:solidFill>
          <a:ln w="12700">
            <a:solidFill>
              <a:srgbClr val="0C5D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109728"/>
            <a:ext cx="11155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Choix techniques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402336"/>
            <a:ext cx="11155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AF3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Pourquoi ces outils / packages ?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051560"/>
            <a:ext cx="5806440" cy="5074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3EC"/>
            </a:solidFill>
            <a:prstDash val="solid"/>
          </a:ln>
          <a:effectLst>
            <a:outerShdw blurRad="25400" dist="127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68680" y="1280160"/>
            <a:ext cx="5166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C5D8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Stack logiciel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68680" y="1691640"/>
            <a:ext cx="516636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Python : prototypage rapide + écosystème data.</a:t>
            </a:r>
            <a:endParaRPr lang="en-US" sz="13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PySide6 / Qt : application desktop multi-onglets.</a:t>
            </a:r>
            <a:endParaRPr lang="en-US" sz="13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Matplotlib : graphiques intégrés dans Qt.</a:t>
            </a:r>
            <a:endParaRPr lang="en-US" sz="13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pandas / numpy : agrégation + nettoyage des données.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92240" y="1051560"/>
            <a:ext cx="5696712" cy="5074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3EC"/>
            </a:solidFill>
            <a:prstDash val="solid"/>
          </a:ln>
          <a:effectLst>
            <a:outerShdw blurRad="25400" dist="127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812280" y="1280160"/>
            <a:ext cx="505663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C5D8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Accès données Riot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812280" y="1691640"/>
            <a:ext cx="5056632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riotwatcher : wrappers stables pour l’API Riot.</a:t>
            </a:r>
            <a:endParaRPr lang="en-US" sz="13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requests : fallback (LiveClient / endpoints directs).</a:t>
            </a:r>
            <a:endParaRPr lang="en-US" sz="13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CSV (local) : simple à partager, rapide à charger dans l’UI.</a:t>
            </a:r>
            <a:endParaRPr lang="en-US" sz="13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Stratégies anti-rate-limit : backoff + sleep + retry.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6F8FA"/>
          </a:solidFill>
          <a:ln w="12700">
            <a:solidFill>
              <a:srgbClr val="D9E3EC"/>
            </a:solidFill>
            <a:prstDash val="solid"/>
          </a:ln>
        </p:spPr>
        <p:txBody>
          <a:bodyPr/>
          <a:lstStyle/>
          <a:p>
            <a:r>
              <a:rPr lang="fr-FR" altLang="zh-CN" dirty="0"/>
              <a:t>3</a:t>
            </a:r>
            <a:endParaRPr lang="zh-CN" altLang="en-US" dirty="0"/>
          </a:p>
        </p:txBody>
      </p:sp>
      <p:sp>
        <p:nvSpPr>
          <p:cNvPr id="14" name="Text 12"/>
          <p:cNvSpPr/>
          <p:nvPr/>
        </p:nvSpPr>
        <p:spPr>
          <a:xfrm>
            <a:off x="548640" y="6583680"/>
            <a:ext cx="11155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SuperLOL Assistant — Présentation </a:t>
            </a:r>
            <a:r>
              <a:rPr lang="en-US" sz="1000" dirty="0" err="1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projet</a:t>
            </a:r>
            <a:r>
              <a:rPr lang="en-US" sz="10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C5D8B"/>
          </a:solidFill>
          <a:ln w="12700">
            <a:solidFill>
              <a:srgbClr val="0C5D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109728"/>
            <a:ext cx="11155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Architecture — vue d’ensemble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402336"/>
            <a:ext cx="11155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AF3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Pipeline : collecte → calcul → affichage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38200" y="1126463"/>
            <a:ext cx="3291840" cy="1005840"/>
          </a:xfrm>
          <a:prstGeom prst="roundRect">
            <a:avLst/>
          </a:prstGeom>
          <a:solidFill>
            <a:srgbClr val="EAF3FA"/>
          </a:solidFill>
          <a:ln w="12700">
            <a:solidFill>
              <a:srgbClr val="0C5D8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21080" y="1236191"/>
            <a:ext cx="292608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data_base_riot.py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Collecte DB globale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450080" y="1126463"/>
            <a:ext cx="3291840" cy="1005840"/>
          </a:xfrm>
          <a:prstGeom prst="roundRect">
            <a:avLst/>
          </a:prstGeom>
          <a:solidFill>
            <a:srgbClr val="FFF3E0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32960" y="1236191"/>
            <a:ext cx="292608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ingame_tab.py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Analyse “live”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061960" y="1126463"/>
            <a:ext cx="3474720" cy="1005840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44840" y="1236191"/>
            <a:ext cx="310896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interface.py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UI &amp; orchestration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147550" y="1464791"/>
            <a:ext cx="302530" cy="320040"/>
          </a:xfrm>
          <a:prstGeom prst="rightArrow">
            <a:avLst/>
          </a:prstGeom>
          <a:solidFill>
            <a:srgbClr val="0C5D8B"/>
          </a:solidFill>
          <a:ln w="12700">
            <a:solidFill>
              <a:srgbClr val="0C5D8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41920" y="1464791"/>
            <a:ext cx="320040" cy="320040"/>
          </a:xfrm>
          <a:prstGeom prst="rightArrow">
            <a:avLst/>
          </a:prstGeom>
          <a:solidFill>
            <a:srgbClr val="0C5D8B"/>
          </a:solidFill>
          <a:ln w="12700">
            <a:solidFill>
              <a:srgbClr val="0C5D8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38200" y="2543783"/>
            <a:ext cx="3886200" cy="914400"/>
          </a:xfrm>
          <a:prstGeom prst="roundRect">
            <a:avLst/>
          </a:prstGeom>
          <a:solidFill>
            <a:srgbClr val="F6F8FA"/>
          </a:solidFill>
          <a:ln w="12700">
            <a:solidFill>
              <a:srgbClr val="D9E3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29640" y="2616935"/>
            <a:ext cx="370332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CSV locaux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participants.csv / matches.csv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484120" y="2137568"/>
            <a:ext cx="328082" cy="364180"/>
          </a:xfrm>
          <a:prstGeom prst="downArrow">
            <a:avLst/>
          </a:prstGeom>
          <a:solidFill>
            <a:srgbClr val="0C5D8B"/>
          </a:solidFill>
          <a:ln w="12700">
            <a:solidFill>
              <a:srgbClr val="0C5D8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rot="2069462">
            <a:off x="2163686" y="3653716"/>
            <a:ext cx="525780" cy="301363"/>
          </a:xfrm>
          <a:prstGeom prst="rightArrow">
            <a:avLst/>
          </a:prstGeom>
          <a:solidFill>
            <a:srgbClr val="0C5D8B"/>
          </a:solidFill>
          <a:ln w="12700">
            <a:solidFill>
              <a:srgbClr val="0C5D8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916287" y="3682308"/>
            <a:ext cx="5943600" cy="2606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3E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190607" y="3743398"/>
            <a:ext cx="5394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C5D8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Sorties affichées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3236327" y="4063438"/>
            <a:ext cx="5577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META : tier list + matchups</a:t>
            </a:r>
            <a:endParaRPr lang="en-US" sz="13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PROFIL : stats + tableaux + camembert</a:t>
            </a:r>
            <a:endParaRPr lang="en-US" sz="13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 GAME : scan LiveClient/Spectator + “note”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6F8FA"/>
          </a:solidFill>
          <a:ln w="12700">
            <a:solidFill>
              <a:srgbClr val="D9E3EC"/>
            </a:solidFill>
            <a:prstDash val="solid"/>
          </a:ln>
        </p:spPr>
        <p:txBody>
          <a:bodyPr/>
          <a:lstStyle/>
          <a:p>
            <a:r>
              <a:rPr lang="fr-FR" altLang="zh-CN" dirty="0"/>
              <a:t>4</a:t>
            </a:r>
            <a:endParaRPr lang="zh-CN" altLang="en-US" dirty="0"/>
          </a:p>
        </p:txBody>
      </p:sp>
      <p:sp>
        <p:nvSpPr>
          <p:cNvPr id="22" name="Text 20"/>
          <p:cNvSpPr/>
          <p:nvPr/>
        </p:nvSpPr>
        <p:spPr>
          <a:xfrm>
            <a:off x="548640" y="6583680"/>
            <a:ext cx="11155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SuperLOL Assistant — Présentation </a:t>
            </a:r>
            <a:r>
              <a:rPr lang="en-US" sz="1000" dirty="0" err="1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projet</a:t>
            </a:r>
            <a:r>
              <a:rPr lang="en-US" sz="10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</a:t>
            </a:r>
            <a:endParaRPr lang="en-US" sz="1000" dirty="0"/>
          </a:p>
        </p:txBody>
      </p:sp>
      <p:sp>
        <p:nvSpPr>
          <p:cNvPr id="23" name="Shape 11">
            <a:extLst>
              <a:ext uri="{FF2B5EF4-FFF2-40B4-BE49-F238E27FC236}">
                <a16:creationId xmlns:a16="http://schemas.microsoft.com/office/drawing/2014/main" id="{9FD2F2C7-0BEE-7905-A377-4751E2A05DED}"/>
              </a:ext>
            </a:extLst>
          </p:cNvPr>
          <p:cNvSpPr/>
          <p:nvPr/>
        </p:nvSpPr>
        <p:spPr>
          <a:xfrm rot="5400000">
            <a:off x="9683228" y="2208180"/>
            <a:ext cx="338862" cy="292607"/>
          </a:xfrm>
          <a:prstGeom prst="rightArrow">
            <a:avLst/>
          </a:prstGeom>
          <a:solidFill>
            <a:srgbClr val="0C5D8B"/>
          </a:solidFill>
          <a:ln w="12700">
            <a:solidFill>
              <a:srgbClr val="0C5D8B"/>
            </a:solidFill>
            <a:prstDash val="solid"/>
          </a:ln>
        </p:spPr>
      </p:sp>
      <p:sp>
        <p:nvSpPr>
          <p:cNvPr id="24" name="Shape 12">
            <a:extLst>
              <a:ext uri="{FF2B5EF4-FFF2-40B4-BE49-F238E27FC236}">
                <a16:creationId xmlns:a16="http://schemas.microsoft.com/office/drawing/2014/main" id="{D1BFFA89-321D-A11C-A47B-8F0DD6787A61}"/>
              </a:ext>
            </a:extLst>
          </p:cNvPr>
          <p:cNvSpPr/>
          <p:nvPr/>
        </p:nvSpPr>
        <p:spPr>
          <a:xfrm>
            <a:off x="8024507" y="2545404"/>
            <a:ext cx="3886200" cy="914400"/>
          </a:xfrm>
          <a:prstGeom prst="roundRect">
            <a:avLst/>
          </a:prstGeom>
          <a:solidFill>
            <a:srgbClr val="F6F8FA"/>
          </a:solidFill>
          <a:ln w="12700">
            <a:solidFill>
              <a:srgbClr val="D9E3EC"/>
            </a:solidFill>
            <a:prstDash val="solid"/>
          </a:ln>
        </p:spPr>
      </p:sp>
      <p:sp>
        <p:nvSpPr>
          <p:cNvPr id="26" name="Text 13">
            <a:extLst>
              <a:ext uri="{FF2B5EF4-FFF2-40B4-BE49-F238E27FC236}">
                <a16:creationId xmlns:a16="http://schemas.microsoft.com/office/drawing/2014/main" id="{2042F203-D0D9-57A9-BB76-8723DE770631}"/>
              </a:ext>
            </a:extLst>
          </p:cNvPr>
          <p:cNvSpPr/>
          <p:nvPr/>
        </p:nvSpPr>
        <p:spPr>
          <a:xfrm>
            <a:off x="8001000" y="2615557"/>
            <a:ext cx="370332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CSV locaux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 err="1">
                <a:solidFill>
                  <a:srgbClr val="0F172A"/>
                </a:solidFill>
                <a:latin typeface="Aptos" pitchFamily="34" charset="0"/>
              </a:rPr>
              <a:t>data_user</a:t>
            </a:r>
            <a:r>
              <a:rPr lang="en-US" sz="1200" dirty="0">
                <a:solidFill>
                  <a:srgbClr val="0F172A"/>
                </a:solidFill>
                <a:latin typeface="Aptos" pitchFamily="34" charset="0"/>
              </a:rPr>
              <a:t> participants</a:t>
            </a:r>
            <a:endParaRPr lang="en-US" sz="1200" dirty="0"/>
          </a:p>
        </p:txBody>
      </p:sp>
      <p:sp>
        <p:nvSpPr>
          <p:cNvPr id="27" name="Shape 15">
            <a:extLst>
              <a:ext uri="{FF2B5EF4-FFF2-40B4-BE49-F238E27FC236}">
                <a16:creationId xmlns:a16="http://schemas.microsoft.com/office/drawing/2014/main" id="{FE4290F7-69D1-92AC-DB59-AD67D5F77983}"/>
              </a:ext>
            </a:extLst>
          </p:cNvPr>
          <p:cNvSpPr/>
          <p:nvPr/>
        </p:nvSpPr>
        <p:spPr>
          <a:xfrm rot="8138916">
            <a:off x="9443465" y="3729876"/>
            <a:ext cx="525780" cy="301363"/>
          </a:xfrm>
          <a:prstGeom prst="rightArrow">
            <a:avLst/>
          </a:prstGeom>
          <a:solidFill>
            <a:srgbClr val="0C5D8B"/>
          </a:solidFill>
          <a:ln w="12700">
            <a:solidFill>
              <a:srgbClr val="0C5D8B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C5D8B"/>
          </a:solidFill>
          <a:ln w="12700">
            <a:solidFill>
              <a:srgbClr val="0C5D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109728"/>
            <a:ext cx="11155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Architecture — data_base_riot.py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402336"/>
            <a:ext cx="11155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AF3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Collecte “mêta globale” à partir de l’API Riot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92608" y="1060704"/>
            <a:ext cx="5806440" cy="5074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3EC"/>
            </a:solidFill>
            <a:prstDash val="solid"/>
          </a:ln>
          <a:effectLst>
            <a:outerShdw blurRad="25400" dist="127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12648" y="1289304"/>
            <a:ext cx="5166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C5D8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Rôle du script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12648" y="1700784"/>
            <a:ext cx="516636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Point d’entrée : clé API + région + objectif (# matchs).</a:t>
            </a:r>
            <a:endParaRPr lang="en-US" sz="13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Démarre sur des joueurs “seeds” (Riot IDs ou ladder).</a:t>
            </a:r>
            <a:endParaRPr lang="en-US" sz="13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Récupère une liste de matchs puis les détails de match.</a:t>
            </a:r>
            <a:endParaRPr lang="en-US" sz="13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Extrait 1 ligne par participant (role/champion/KDA/…)</a:t>
            </a:r>
            <a:endParaRPr lang="en-US" sz="13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Écrit en blocs dans participants.csv + matches.csv.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36208" y="1060704"/>
            <a:ext cx="5696712" cy="5074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3EC"/>
            </a:solidFill>
            <a:prstDash val="solid"/>
          </a:ln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556248" y="1243584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C5D8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Boucle de </a:t>
            </a:r>
            <a:r>
              <a:rPr lang="en-US" sz="1500" b="1" dirty="0" err="1">
                <a:solidFill>
                  <a:srgbClr val="0C5D8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collecte</a:t>
            </a:r>
            <a:r>
              <a:rPr lang="en-US" sz="1500" b="1" dirty="0">
                <a:solidFill>
                  <a:srgbClr val="0C5D8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647688" y="1746504"/>
            <a:ext cx="4983480" cy="502920"/>
          </a:xfrm>
          <a:prstGeom prst="roundRect">
            <a:avLst/>
          </a:prstGeom>
          <a:solidFill>
            <a:srgbClr val="EAF3FA"/>
          </a:solidFill>
          <a:ln w="12700">
            <a:solidFill>
              <a:srgbClr val="0C5D8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30568" y="1856232"/>
            <a:ext cx="461772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Seeds (ladder / Riot IDs)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993124" y="2276856"/>
            <a:ext cx="292608" cy="320040"/>
          </a:xfrm>
          <a:prstGeom prst="downArrow">
            <a:avLst/>
          </a:prstGeom>
          <a:solidFill>
            <a:srgbClr val="0C5D8B"/>
          </a:solidFill>
          <a:ln w="12700">
            <a:solidFill>
              <a:srgbClr val="0C5D8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647688" y="2615184"/>
            <a:ext cx="4983480" cy="502920"/>
          </a:xfrm>
          <a:prstGeom prst="roundRect">
            <a:avLst/>
          </a:prstGeom>
          <a:solidFill>
            <a:srgbClr val="F6F8FA"/>
          </a:solidFill>
          <a:ln w="12700">
            <a:solidFill>
              <a:srgbClr val="D9E3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30568" y="2724912"/>
            <a:ext cx="461772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matchlist_by_puuid (IDs)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993124" y="3145536"/>
            <a:ext cx="292608" cy="320040"/>
          </a:xfrm>
          <a:prstGeom prst="downArrow">
            <a:avLst/>
          </a:prstGeom>
          <a:solidFill>
            <a:srgbClr val="0C5D8B"/>
          </a:solidFill>
          <a:ln w="12700">
            <a:solidFill>
              <a:srgbClr val="0C5D8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647688" y="3483864"/>
            <a:ext cx="4983480" cy="502920"/>
          </a:xfrm>
          <a:prstGeom prst="roundRect">
            <a:avLst/>
          </a:prstGeom>
          <a:solidFill>
            <a:srgbClr val="F6F8FA"/>
          </a:solidFill>
          <a:ln w="12700">
            <a:solidFill>
              <a:srgbClr val="D9E3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30568" y="3593592"/>
            <a:ext cx="461772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match.by_id (détails)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8993124" y="4014216"/>
            <a:ext cx="292608" cy="320040"/>
          </a:xfrm>
          <a:prstGeom prst="downArrow">
            <a:avLst/>
          </a:prstGeom>
          <a:solidFill>
            <a:srgbClr val="0C5D8B"/>
          </a:solidFill>
          <a:ln w="12700">
            <a:solidFill>
              <a:srgbClr val="0C5D8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647688" y="4352544"/>
            <a:ext cx="4983480" cy="502920"/>
          </a:xfrm>
          <a:prstGeom prst="roundRect">
            <a:avLst/>
          </a:prstGeom>
          <a:solidFill>
            <a:srgbClr val="FFF3E0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30568" y="4462272"/>
            <a:ext cx="461772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Extraction participants (role/KDA/…)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8993124" y="4882896"/>
            <a:ext cx="292608" cy="320040"/>
          </a:xfrm>
          <a:prstGeom prst="downArrow">
            <a:avLst/>
          </a:prstGeom>
          <a:solidFill>
            <a:srgbClr val="0C5D8B"/>
          </a:solidFill>
          <a:ln w="12700">
            <a:solidFill>
              <a:srgbClr val="0C5D8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47688" y="5221224"/>
            <a:ext cx="4983480" cy="502920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30568" y="5330952"/>
            <a:ext cx="461772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Append CSV 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6F8FA"/>
          </a:solidFill>
          <a:ln w="12700">
            <a:solidFill>
              <a:srgbClr val="D9E3EC"/>
            </a:solidFill>
            <a:prstDash val="solid"/>
          </a:ln>
        </p:spPr>
        <p:txBody>
          <a:bodyPr/>
          <a:lstStyle/>
          <a:p>
            <a:r>
              <a:rPr lang="fr-FR" altLang="zh-CN" dirty="0"/>
              <a:t>5</a:t>
            </a:r>
            <a:endParaRPr lang="zh-CN" altLang="en-US" dirty="0"/>
          </a:p>
        </p:txBody>
      </p:sp>
      <p:sp>
        <p:nvSpPr>
          <p:cNvPr id="27" name="Text 25"/>
          <p:cNvSpPr/>
          <p:nvPr/>
        </p:nvSpPr>
        <p:spPr>
          <a:xfrm>
            <a:off x="548640" y="6583680"/>
            <a:ext cx="11155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SuperLOL Assistant — Présentation </a:t>
            </a:r>
            <a:r>
              <a:rPr lang="en-US" sz="1000" dirty="0" err="1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projet</a:t>
            </a:r>
            <a:r>
              <a:rPr lang="en-US" sz="10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C5D8B"/>
          </a:solidFill>
          <a:ln w="12700">
            <a:solidFill>
              <a:srgbClr val="0C5D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109728"/>
            <a:ext cx="11155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Architecture — ingame_tab.py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402336"/>
            <a:ext cx="11155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AF3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Analyse d’une partie en cours (</a:t>
            </a:r>
            <a:r>
              <a:rPr lang="en-US" sz="1200" dirty="0" err="1">
                <a:solidFill>
                  <a:srgbClr val="EAF3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LiveClient</a:t>
            </a:r>
            <a:r>
              <a:rPr lang="en-US" sz="1200" dirty="0">
                <a:solidFill>
                  <a:srgbClr val="EAF3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</a:t>
            </a:r>
            <a:r>
              <a:rPr lang="fr-FR" sz="1200" dirty="0">
                <a:solidFill>
                  <a:srgbClr val="EAF3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/</a:t>
            </a:r>
            <a:r>
              <a:rPr lang="en-US" sz="1200" dirty="0">
                <a:solidFill>
                  <a:srgbClr val="EAF3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Spectator)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85798" y="1049614"/>
            <a:ext cx="5806440" cy="5074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3EC"/>
            </a:solidFill>
            <a:prstDash val="solid"/>
          </a:ln>
          <a:effectLst>
            <a:outerShdw blurRad="25400" dist="127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05838" y="1278214"/>
            <a:ext cx="5166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C5D8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Rôle du module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05838" y="1689694"/>
            <a:ext cx="516636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Onglet “IN GAME” dans l’app.</a:t>
            </a:r>
            <a:endParaRPr lang="en-US" sz="13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Détecte une partie : LiveClient local sinon Spectator API.</a:t>
            </a:r>
            <a:endParaRPr lang="en-US" sz="13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Récupère les 10 joueurs + champion joué.</a:t>
            </a:r>
            <a:endParaRPr lang="en-US" sz="13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Calcule des stats récentes (WR/KDA/nb matchs) + “note”.</a:t>
            </a:r>
            <a:endParaRPr lang="en-US" sz="13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Affiche 2 tables : Alliés vs Ennemis.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29398" y="1049614"/>
            <a:ext cx="5696712" cy="5074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3EC"/>
            </a:solidFill>
            <a:prstDash val="solid"/>
          </a:ln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549438" y="1232494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C5D8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Stratégie de détection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549438" y="1721795"/>
            <a:ext cx="2423160" cy="960120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49438" y="1799422"/>
            <a:ext cx="24231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LiveClient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(local)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9521238" y="1726173"/>
            <a:ext cx="2148840" cy="960120"/>
          </a:xfrm>
          <a:prstGeom prst="roundRect">
            <a:avLst/>
          </a:prstGeom>
          <a:solidFill>
            <a:srgbClr val="FFF3E0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521238" y="1799422"/>
            <a:ext cx="2148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Spectator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(Riot API)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9109758" y="2704678"/>
            <a:ext cx="292608" cy="320040"/>
          </a:xfrm>
          <a:prstGeom prst="downArrow">
            <a:avLst/>
          </a:prstGeom>
          <a:solidFill>
            <a:srgbClr val="0C5D8B"/>
          </a:solidFill>
          <a:ln w="12700">
            <a:solidFill>
              <a:srgbClr val="0C5D8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098078" y="3061294"/>
            <a:ext cx="4160520" cy="548640"/>
          </a:xfrm>
          <a:prstGeom prst="roundRect">
            <a:avLst/>
          </a:prstGeom>
          <a:solidFill>
            <a:srgbClr val="EAF3FA"/>
          </a:solidFill>
          <a:ln w="12700">
            <a:solidFill>
              <a:srgbClr val="0C5D8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280958" y="3171022"/>
            <a:ext cx="3794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Liste joueurs + champions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9082326" y="3637366"/>
            <a:ext cx="292608" cy="320040"/>
          </a:xfrm>
          <a:prstGeom prst="downArrow">
            <a:avLst/>
          </a:prstGeom>
          <a:solidFill>
            <a:srgbClr val="0C5D8B"/>
          </a:solidFill>
          <a:ln w="12700">
            <a:solidFill>
              <a:srgbClr val="0C5D8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098078" y="3975694"/>
            <a:ext cx="4160520" cy="548640"/>
          </a:xfrm>
          <a:prstGeom prst="roundRect">
            <a:avLst/>
          </a:prstGeom>
          <a:solidFill>
            <a:srgbClr val="F6F8FA"/>
          </a:solidFill>
          <a:ln w="12700">
            <a:solidFill>
              <a:srgbClr val="D9E3E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280958" y="4085422"/>
            <a:ext cx="3794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Stats récentes + score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9082326" y="4551766"/>
            <a:ext cx="292608" cy="320040"/>
          </a:xfrm>
          <a:prstGeom prst="downArrow">
            <a:avLst/>
          </a:prstGeom>
          <a:solidFill>
            <a:srgbClr val="0C5D8B"/>
          </a:solidFill>
          <a:ln w="12700">
            <a:solidFill>
              <a:srgbClr val="0C5D8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098078" y="4890094"/>
            <a:ext cx="4160520" cy="548640"/>
          </a:xfrm>
          <a:prstGeom prst="roundRect">
            <a:avLst/>
          </a:prstGeom>
          <a:solidFill>
            <a:srgbClr val="FFF3E0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280958" y="4999822"/>
            <a:ext cx="3794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Tables (alliés / ennemis)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6F8FA"/>
          </a:solidFill>
          <a:ln w="12700">
            <a:solidFill>
              <a:srgbClr val="D9E3EC"/>
            </a:solidFill>
            <a:prstDash val="solid"/>
          </a:ln>
        </p:spPr>
        <p:txBody>
          <a:bodyPr/>
          <a:lstStyle/>
          <a:p>
            <a:r>
              <a:rPr lang="fr-FR" altLang="zh-CN" dirty="0"/>
              <a:t>6</a:t>
            </a:r>
            <a:endParaRPr lang="zh-CN" altLang="en-US" dirty="0"/>
          </a:p>
        </p:txBody>
      </p:sp>
      <p:sp>
        <p:nvSpPr>
          <p:cNvPr id="26" name="Text 24"/>
          <p:cNvSpPr/>
          <p:nvPr/>
        </p:nvSpPr>
        <p:spPr>
          <a:xfrm>
            <a:off x="548640" y="6583680"/>
            <a:ext cx="11155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SuperLOL Assistant — Présentation </a:t>
            </a:r>
            <a:r>
              <a:rPr lang="en-US" sz="1000" dirty="0" err="1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projet</a:t>
            </a:r>
            <a:r>
              <a:rPr lang="en-US" sz="10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C5D8B"/>
          </a:solidFill>
          <a:ln w="12700">
            <a:solidFill>
              <a:srgbClr val="0C5D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109728"/>
            <a:ext cx="11155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Architecture — interface.py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402336"/>
            <a:ext cx="11155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AF3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Application Qt : onglets, calculs, affichages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51946" y="1051560"/>
            <a:ext cx="5806440" cy="5074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3EC"/>
            </a:solidFill>
            <a:prstDash val="solid"/>
          </a:ln>
          <a:effectLst>
            <a:outerShdw blurRad="25400" dist="127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71986" y="1280160"/>
            <a:ext cx="5166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C5D8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Responsabilités principales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71986" y="1691640"/>
            <a:ext cx="516636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Fenêtre principale + thème (clair/sombre).</a:t>
            </a:r>
            <a:endParaRPr lang="en-US" sz="13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 onglets : META (global), MON PROFIL, IN GAME.</a:t>
            </a:r>
            <a:endParaRPr lang="en-US" sz="13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Chargement CSV (global / perso) + normalisation colonnes.</a:t>
            </a:r>
            <a:endParaRPr lang="en-US" sz="13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Calculs : tier list (winrate/KDA), matchups, stats profil.</a:t>
            </a:r>
            <a:endParaRPr lang="en-US" sz="13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Graphiques : camembert des types joués (matplotlib).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195546" y="1051560"/>
            <a:ext cx="5696712" cy="5074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3EC"/>
            </a:solidFill>
            <a:prstDash val="solid"/>
          </a:ln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515586" y="123444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C5D8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Vue UI (schéma)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515586" y="1645920"/>
            <a:ext cx="5074920" cy="361188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15586" y="1645920"/>
            <a:ext cx="507492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52746" y="1755648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C5D8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SuperLOL Assistant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607026" y="2212848"/>
            <a:ext cx="1417320" cy="320040"/>
          </a:xfrm>
          <a:prstGeom prst="roundRect">
            <a:avLst/>
          </a:prstGeom>
          <a:solidFill>
            <a:srgbClr val="0C5D8B"/>
          </a:solidFill>
          <a:ln w="12700">
            <a:solidFill>
              <a:srgbClr val="0C5D8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607026" y="2286000"/>
            <a:ext cx="1417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META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8115786" y="2212848"/>
            <a:ext cx="1417320" cy="320040"/>
          </a:xfrm>
          <a:prstGeom prst="round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115786" y="2286000"/>
            <a:ext cx="1417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PROFIL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624546" y="2212848"/>
            <a:ext cx="1417320" cy="320040"/>
          </a:xfrm>
          <a:prstGeom prst="round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624546" y="2286000"/>
            <a:ext cx="1417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 GAME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607026" y="2606040"/>
            <a:ext cx="4892040" cy="2514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789906" y="2743200"/>
            <a:ext cx="4526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Calculs + tables + graph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881346" y="3063240"/>
            <a:ext cx="44805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Tier list par rôle</a:t>
            </a:r>
            <a:endParaRPr lang="en-US" sz="1200" dirty="0"/>
          </a:p>
          <a:p>
            <a:pPr marL="203200" indent="-2032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Matchups</a:t>
            </a:r>
            <a:endParaRPr lang="en-US" sz="1200" dirty="0"/>
          </a:p>
          <a:p>
            <a:pPr marL="203200" indent="-2032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Stats perso + camembert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6F8FA"/>
          </a:solidFill>
          <a:ln w="12700">
            <a:solidFill>
              <a:srgbClr val="D9E3EC"/>
            </a:solidFill>
            <a:prstDash val="solid"/>
          </a:ln>
        </p:spPr>
        <p:txBody>
          <a:bodyPr/>
          <a:lstStyle/>
          <a:p>
            <a:r>
              <a:rPr lang="fr-FR" altLang="zh-CN" dirty="0"/>
              <a:t>7</a:t>
            </a:r>
            <a:endParaRPr lang="zh-CN" altLang="en-US" dirty="0"/>
          </a:p>
        </p:txBody>
      </p:sp>
      <p:sp>
        <p:nvSpPr>
          <p:cNvPr id="24" name="Text 22"/>
          <p:cNvSpPr/>
          <p:nvPr/>
        </p:nvSpPr>
        <p:spPr>
          <a:xfrm>
            <a:off x="548640" y="6583680"/>
            <a:ext cx="11155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SuperLOL Assistant — Présentation </a:t>
            </a:r>
            <a:r>
              <a:rPr lang="en-US" sz="1000" dirty="0" err="1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projet</a:t>
            </a:r>
            <a:r>
              <a:rPr lang="en-US" sz="10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C5D8B"/>
          </a:solidFill>
          <a:ln w="12700">
            <a:solidFill>
              <a:srgbClr val="0C5D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109728"/>
            <a:ext cx="11155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Difficultés rencontrées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402336"/>
            <a:ext cx="11155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AF3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Et comment on les a gérées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75682" y="1664608"/>
            <a:ext cx="5655730" cy="448457"/>
          </a:xfrm>
          <a:prstGeom prst="rect">
            <a:avLst/>
          </a:prstGeom>
          <a:solidFill>
            <a:srgbClr val="0C5D8B"/>
          </a:solidFill>
          <a:ln w="12700">
            <a:solidFill>
              <a:srgbClr val="0C5D8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007802" y="1664608"/>
            <a:ext cx="5777258" cy="448457"/>
          </a:xfrm>
          <a:prstGeom prst="rect">
            <a:avLst/>
          </a:prstGeom>
          <a:solidFill>
            <a:srgbClr val="0C5D8B"/>
          </a:solidFill>
          <a:ln w="12700">
            <a:solidFill>
              <a:srgbClr val="0C5D8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562" y="1737760"/>
            <a:ext cx="5235056" cy="29897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Problème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190682" y="1737760"/>
            <a:ext cx="5422022" cy="29897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Solution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75682" y="2167528"/>
            <a:ext cx="5655730" cy="847085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007802" y="2167528"/>
            <a:ext cx="5777258" cy="847085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8561" y="2304689"/>
            <a:ext cx="5281797" cy="5979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Rate limit Riot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190682" y="2304689"/>
            <a:ext cx="5468764" cy="5979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Backoff + retry + sleep entre appels (safe_call).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75682" y="2944768"/>
            <a:ext cx="5655730" cy="847085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007802" y="2944768"/>
            <a:ext cx="5777258" cy="847085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8561" y="3081929"/>
            <a:ext cx="5281797" cy="5979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Clé API expirée (401/403)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190682" y="3081929"/>
            <a:ext cx="5468764" cy="5979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Détection + arrêt explicite (message clair).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75682" y="3722008"/>
            <a:ext cx="5655730" cy="847085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007802" y="3722008"/>
            <a:ext cx="5777258" cy="847085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8561" y="3859169"/>
            <a:ext cx="5281797" cy="5979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Spectator parfois indisponible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190682" y="3859169"/>
            <a:ext cx="5468764" cy="5979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Fallback : LiveClient local → spectator v5 → v4.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75682" y="4499248"/>
            <a:ext cx="5655730" cy="847085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007802" y="4499248"/>
            <a:ext cx="5777258" cy="847085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8561" y="4636409"/>
            <a:ext cx="5281797" cy="5979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fr-FR" altLang="zh-CN" sz="1300" dirty="0">
                <a:solidFill>
                  <a:srgbClr val="0F172A"/>
                </a:solidFill>
                <a:latin typeface="Aptos" pitchFamily="34" charset="0"/>
              </a:rPr>
              <a:t>Cohérence des identifiants (riotId / puuid / region routing) </a:t>
            </a:r>
            <a:endParaRPr lang="en-US" sz="1300" dirty="0">
              <a:solidFill>
                <a:srgbClr val="0F172A"/>
              </a:solidFill>
              <a:latin typeface="Aptos" pitchFamily="34" charset="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6190682" y="4636409"/>
            <a:ext cx="5468764" cy="5979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Normalisation et lecture flexible avant calculs.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6F8FA"/>
          </a:solidFill>
          <a:ln w="12700">
            <a:solidFill>
              <a:srgbClr val="D9E3EC"/>
            </a:solidFill>
            <a:prstDash val="solid"/>
          </a:ln>
        </p:spPr>
        <p:txBody>
          <a:bodyPr/>
          <a:lstStyle/>
          <a:p>
            <a:r>
              <a:rPr lang="fr-FR" altLang="zh-CN" dirty="0"/>
              <a:t>8</a:t>
            </a:r>
            <a:endParaRPr lang="zh-CN" altLang="en-US" dirty="0"/>
          </a:p>
        </p:txBody>
      </p:sp>
      <p:sp>
        <p:nvSpPr>
          <p:cNvPr id="31" name="Text 29"/>
          <p:cNvSpPr/>
          <p:nvPr/>
        </p:nvSpPr>
        <p:spPr>
          <a:xfrm>
            <a:off x="548640" y="6583680"/>
            <a:ext cx="11155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SuperLOL Assistant — Présentation </a:t>
            </a:r>
            <a:r>
              <a:rPr lang="en-US" sz="1000" dirty="0" err="1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projet</a:t>
            </a:r>
            <a:r>
              <a:rPr lang="en-US" sz="10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C5D8B"/>
          </a:solidFill>
          <a:ln w="12700">
            <a:solidFill>
              <a:srgbClr val="0C5D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109728"/>
            <a:ext cx="11155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Cahier des charges — réalisé ✅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402336"/>
            <a:ext cx="11155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AF3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 que l’outil couvre déjà (ou partiellement)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05060" y="1060704"/>
            <a:ext cx="11640312" cy="5074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3EC"/>
            </a:solidFill>
            <a:prstDash val="solid"/>
          </a:ln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25100" y="1243584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C5D8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Exigences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16540" y="1700784"/>
            <a:ext cx="1088136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E5 — Tier List : classement par rôle avec winrate/KDA.</a:t>
            </a:r>
            <a:endParaRPr lang="en-US" sz="1500" dirty="0"/>
          </a:p>
          <a:p>
            <a:pPr marL="254000" indent="-2540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E6 — Analyse “match” (partiel) : évaluation des 10 joueurs d’une partie en cours.</a:t>
            </a:r>
            <a:endParaRPr lang="en-US" sz="1500" dirty="0"/>
          </a:p>
          <a:p>
            <a:pPr marL="254000" indent="-2540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E7 — Profil joueur (partiel) : stats, tableaux, camembert des types </a:t>
            </a:r>
            <a:r>
              <a:rPr lang="en-US" sz="1500" dirty="0" err="1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joués</a:t>
            </a:r>
            <a:r>
              <a:rPr lang="en-US" sz="15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</a:t>
            </a:r>
          </a:p>
          <a:p>
            <a:pPr marL="254000" indent="-254000">
              <a:spcAft>
                <a:spcPts val="600"/>
              </a:spcAft>
              <a:buSzPct val="100000"/>
              <a:buFontTx/>
              <a:buChar char="•"/>
            </a:pPr>
            <a:r>
              <a:rPr lang="en-US" altLang="zh-CN" sz="15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E8 — </a:t>
            </a:r>
            <a:r>
              <a:rPr lang="en-US" altLang="zh-CN" sz="1500" dirty="0" err="1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Filtre</a:t>
            </a:r>
            <a:r>
              <a:rPr lang="en-US" altLang="zh-CN" sz="15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des </a:t>
            </a:r>
            <a:r>
              <a:rPr lang="en-US" altLang="zh-CN" sz="1500" dirty="0" err="1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statistiques</a:t>
            </a:r>
            <a:r>
              <a:rPr lang="en-US" altLang="zh-CN" sz="15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</a:t>
            </a:r>
            <a:r>
              <a:rPr lang="en-US" altLang="zh-CN" sz="1500" dirty="0" err="1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selon</a:t>
            </a:r>
            <a:r>
              <a:rPr lang="en-US" altLang="zh-CN" sz="15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le </a:t>
            </a:r>
            <a:r>
              <a:rPr lang="en-US" altLang="zh-CN" sz="1500" dirty="0" err="1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rôle</a:t>
            </a:r>
            <a:r>
              <a:rPr lang="en-US" altLang="zh-CN" sz="15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</a:t>
            </a:r>
            <a:endParaRPr lang="en-US" sz="1500" dirty="0"/>
          </a:p>
          <a:p>
            <a:pPr marL="254000" indent="-2540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E1 — Fenêtre unique en onglets (partiel : 3 onglets au lieu de 4 demandés).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6F8FA"/>
          </a:solidFill>
          <a:ln w="12700">
            <a:solidFill>
              <a:srgbClr val="D9E3EC"/>
            </a:solidFill>
            <a:prstDash val="solid"/>
          </a:ln>
        </p:spPr>
        <p:txBody>
          <a:bodyPr/>
          <a:lstStyle/>
          <a:p>
            <a:r>
              <a:rPr lang="fr-FR" altLang="zh-CN" dirty="0"/>
              <a:t>9</a:t>
            </a:r>
            <a:endParaRPr lang="zh-CN" altLang="en-US" dirty="0"/>
          </a:p>
        </p:txBody>
      </p:sp>
      <p:sp>
        <p:nvSpPr>
          <p:cNvPr id="13" name="Text 11"/>
          <p:cNvSpPr/>
          <p:nvPr/>
        </p:nvSpPr>
        <p:spPr>
          <a:xfrm>
            <a:off x="548640" y="6583680"/>
            <a:ext cx="11155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SuperLOL Assistant — Présentation </a:t>
            </a:r>
            <a:r>
              <a:rPr lang="en-US" sz="1000" dirty="0" err="1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projet</a:t>
            </a:r>
            <a:r>
              <a:rPr lang="en-US" sz="10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C5D8B"/>
          </a:solidFill>
          <a:ln w="12700">
            <a:solidFill>
              <a:srgbClr val="0C5D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109728"/>
            <a:ext cx="11155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Cahier des charges — non réalisé 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402336"/>
            <a:ext cx="11155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AF3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Points </a:t>
            </a:r>
            <a:r>
              <a:rPr lang="en-US" sz="1200" dirty="0" err="1">
                <a:solidFill>
                  <a:srgbClr val="EAF3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manquants</a:t>
            </a:r>
            <a:r>
              <a:rPr lang="en-US" sz="1200" dirty="0">
                <a:solidFill>
                  <a:srgbClr val="EAF3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75844" y="1060704"/>
            <a:ext cx="11640312" cy="5074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3EC"/>
            </a:solidFill>
            <a:prstDash val="solid"/>
          </a:ln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5884" y="1243584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C5D8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Exigences non couvertes (ou non finalisées)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87324" y="1700784"/>
            <a:ext cx="1088136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E2 — Recommandation de champions en draft (alliés/ennemis).</a:t>
            </a:r>
            <a:endParaRPr lang="en-US" sz="1500" dirty="0"/>
          </a:p>
          <a:p>
            <a:pPr marL="254000" indent="-2540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E3 — Moteur de recommandation combinant base globale + base utilisateur.</a:t>
            </a:r>
            <a:endParaRPr lang="en-US" sz="1500" dirty="0"/>
          </a:p>
          <a:p>
            <a:pPr marL="254000" indent="-2540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E4 — Sorts d’invocateur optimaux selon rôle + compo adverse.</a:t>
            </a:r>
            <a:endParaRPr lang="en-US" sz="1500" dirty="0"/>
          </a:p>
          <a:p>
            <a:pPr marL="254000" indent="-2540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E8 — </a:t>
            </a:r>
            <a:r>
              <a:rPr lang="en-US" sz="1500" dirty="0" err="1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Filtre</a:t>
            </a:r>
            <a:r>
              <a:rPr lang="en-US" sz="15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des </a:t>
            </a:r>
            <a:r>
              <a:rPr lang="en-US" sz="1500" dirty="0" err="1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statistiques</a:t>
            </a:r>
            <a:r>
              <a:rPr lang="en-US" sz="15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</a:t>
            </a:r>
            <a:r>
              <a:rPr lang="en-US" sz="1500" dirty="0" err="1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selon</a:t>
            </a:r>
            <a:r>
              <a:rPr lang="en-US" sz="15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le patch et la region. </a:t>
            </a:r>
            <a:endParaRPr lang="en-US" sz="1500" dirty="0"/>
          </a:p>
          <a:p>
            <a:pPr marL="254000" indent="-2540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E9 — UI 100% anglais + bibliothèque de messages “toxique positif” multi-langue.</a:t>
            </a:r>
            <a:endParaRPr lang="en-US" sz="1500" dirty="0"/>
          </a:p>
          <a:p>
            <a:pPr marL="254000" indent="-2540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E10 — UI conçue avec Qt Designer (UI actuelle codée en PySide6) ???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6F8FA"/>
          </a:solidFill>
          <a:ln w="12700">
            <a:solidFill>
              <a:srgbClr val="D9E3EC"/>
            </a:solidFill>
            <a:prstDash val="solid"/>
          </a:ln>
        </p:spPr>
        <p:txBody>
          <a:bodyPr/>
          <a:lstStyle/>
          <a:p>
            <a:r>
              <a:rPr lang="fr-FR" altLang="zh-CN" dirty="0"/>
              <a:t>10</a:t>
            </a:r>
            <a:endParaRPr lang="zh-CN" altLang="en-US" dirty="0"/>
          </a:p>
        </p:txBody>
      </p:sp>
      <p:sp>
        <p:nvSpPr>
          <p:cNvPr id="11" name="Text 9"/>
          <p:cNvSpPr/>
          <p:nvPr/>
        </p:nvSpPr>
        <p:spPr>
          <a:xfrm>
            <a:off x="548640" y="6583680"/>
            <a:ext cx="11155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SuperLOL Assistant — Présentation </a:t>
            </a:r>
            <a:r>
              <a:rPr lang="en-US" sz="1000" dirty="0" err="1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projet</a:t>
            </a:r>
            <a:r>
              <a:rPr lang="en-US" sz="10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大都市">
  <a:themeElements>
    <a:clrScheme name="大都市">
      <a:dk1>
        <a:sysClr val="windowText" lastClr="000000"/>
      </a:dk1>
      <a:lt1>
        <a:sysClr val="window" lastClr="FFFFFF"/>
      </a:lt1>
      <a:dk2>
        <a:srgbClr val="162F33"/>
      </a:dk2>
      <a:lt2>
        <a:srgbClr val="EAF0E0"/>
      </a:lt2>
      <a:accent1>
        <a:srgbClr val="50B4C8"/>
      </a:accent1>
      <a:accent2>
        <a:srgbClr val="A8B97F"/>
      </a:accent2>
      <a:accent3>
        <a:srgbClr val="9B9256"/>
      </a:accent3>
      <a:accent4>
        <a:srgbClr val="657689"/>
      </a:accent4>
      <a:accent5>
        <a:srgbClr val="7A855D"/>
      </a:accent5>
      <a:accent6>
        <a:srgbClr val="84AC9D"/>
      </a:accent6>
      <a:hlink>
        <a:srgbClr val="2370CD"/>
      </a:hlink>
      <a:folHlink>
        <a:srgbClr val="877589"/>
      </a:folHlink>
    </a:clrScheme>
    <a:fontScheme name="大都市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大都市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satMod val="100000"/>
                <a:lumMod val="110000"/>
              </a:schemeClr>
            </a:gs>
            <a:gs pos="50000">
              <a:schemeClr val="phClr">
                <a:tint val="75000"/>
                <a:satMod val="101000"/>
                <a:lumMod val="105000"/>
              </a:schemeClr>
            </a:gs>
            <a:gs pos="100000">
              <a:schemeClr val="phClr">
                <a:tint val="82000"/>
                <a:satMod val="104000"/>
                <a:lumMod val="105000"/>
              </a:schemeClr>
            </a:gs>
          </a:gsLst>
          <a:lin ang="27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0000"/>
                <a:lumMod val="100000"/>
              </a:schemeClr>
            </a:gs>
            <a:gs pos="100000">
              <a:schemeClr val="phClr">
                <a:shade val="80000"/>
                <a:satMod val="100000"/>
                <a:lumMod val="99000"/>
              </a:schemeClr>
            </a:gs>
          </a:gsLst>
          <a:lin ang="27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solidFill>
          <a:schemeClr val="phClr">
            <a:shade val="95000"/>
            <a:satMod val="170000"/>
          </a:schemeClr>
        </a:soli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tropolitan" id="{4C5440D6-04D2-4954-96CF-F251137069B2}" vid="{79CFCA13-9412-4290-BB4B-85112F88857B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TM03457491[[fn=大都市]]</Template>
  <TotalTime>86</TotalTime>
  <Words>1136</Words>
  <Application>Microsoft Office PowerPoint</Application>
  <PresentationFormat>宽屏</PresentationFormat>
  <Paragraphs>149</Paragraphs>
  <Slides>10</Slides>
  <Notes>9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15" baseType="lpstr">
      <vt:lpstr>Aptos</vt:lpstr>
      <vt:lpstr>Aptos Display</vt:lpstr>
      <vt:lpstr>Arial</vt:lpstr>
      <vt:lpstr>Calibri Light</vt:lpstr>
      <vt:lpstr>大都市</vt:lpstr>
      <vt:lpstr>Super LOL Assisatant  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SuperLOL Assistant (auto-generated)</dc:creator>
  <cp:lastModifiedBy>xj zhang</cp:lastModifiedBy>
  <cp:revision>9</cp:revision>
  <dcterms:created xsi:type="dcterms:W3CDTF">2026-02-10T04:31:01Z</dcterms:created>
  <dcterms:modified xsi:type="dcterms:W3CDTF">2026-02-10T09:52:37Z</dcterms:modified>
</cp:coreProperties>
</file>