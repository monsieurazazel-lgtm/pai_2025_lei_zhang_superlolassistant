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67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d'alignement sur les attentes.
[Sources]
- Capture des attentes fournie par l'utilisateur (image)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Code: data_base_riot.py, ingame_tab.py, interface.py (imports + logique de backoff)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Code: data_base_riot.py (CSV global)
- Code: ingame_tab.py (LiveClient + spectator)
- Code: interface.py (tabs + affichages)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data_base_riot.py (safe_call, collect_dataset, CSV participants/matches)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ingame_tab.py (scan_live, LiveClient probe, spectator fallback, tables alliés/ennemis)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interface.py (MainWindow tabs, MetaTab tier list, ProfileTab pie chart, thème QSS)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data_base_riot.py (safe_call + batch CSV)
- ingame_tab.py (fallback + safe_call)
- interface.py (lecture/normalisation CSV + UI tables compactes)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Fiche projet (table E1..E10)
- interface.py (tabs, MetaTab, ProfileTab)
- ingame_tab.py (scan des 10 joueurs)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Fiche projet (table E1..E10)
- Lecture des scripts fournis (absence de recommandation draft/sorts/patche/Qt Designer/multi-langue)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Fiche projet (table E1..E10)
- Lecture des scripts fournis (absence de recommandation draft/sorts/patche/Qt Designer/multi-langue)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70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Fiche projet (table E1..E10)
- Lecture des scripts fournis (absence de recommandation draft/sorts/patche/Qt Designer/multi-langue)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88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345" indent="-3429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15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17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22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zh-CN" dirty="0"/>
              <a:t>Super LOL </a:t>
            </a:r>
            <a:r>
              <a:rPr lang="fr-FR" altLang="zh-CN" dirty="0" smtClean="0"/>
              <a:t>Assistant</a:t>
            </a:r>
            <a:r>
              <a:rPr lang="fr-FR" altLang="zh-CN" dirty="0"/>
              <a:t>		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altLang="zh-CN" dirty="0"/>
              <a:t>Shutian LEI, Lixiang ZHANG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49213"/>
            <a:ext cx="3739473" cy="14664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Shap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1</a:t>
            </a:r>
            <a:endParaRPr lang="zh-CN" altLang="en-US" dirty="0"/>
          </a:p>
        </p:txBody>
      </p:sp>
      <p:sp>
        <p:nvSpPr>
          <p:cNvPr id="9" name="Text 17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Sommaire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7745" y="911481"/>
            <a:ext cx="11116769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1828994"/>
            <a:ext cx="5913444" cy="406888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+ objectif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l’outil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Choix techniques (packages) + pourquoi.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(3 scripts) + flux de données.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 cahier des charges : fait / non fait /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partiel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2</a:t>
            </a:r>
            <a:endParaRPr lang="zh-CN" altLang="en-US" dirty="0"/>
          </a:p>
        </p:txBody>
      </p:sp>
      <p:sp>
        <p:nvSpPr>
          <p:cNvPr id="20" name="Text 17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Choix techniques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ces outils / packages ?</a:t>
            </a: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45440" y="1019175"/>
            <a:ext cx="5806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548640" y="1280160"/>
            <a:ext cx="5166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logiciel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48640" y="1691640"/>
            <a:ext cx="5166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: prototypage rapide + écosystème data.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PySide6 / Qt : application desktop multi-onglets.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 : graphiques intégrés dans Qt.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/ numpy : agrégation + nettoyage des données.</a:t>
            </a:r>
            <a:endParaRPr lang="en-US" sz="13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6172200" y="1060450"/>
            <a:ext cx="5696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6492240" y="1280160"/>
            <a:ext cx="505663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Accès données Riot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6492240" y="1691640"/>
            <a:ext cx="5056632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riotwatcher : wrappers stables pour l’API Riot.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</a:t>
            </a: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13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LiveClient</a:t>
            </a:r>
            <a:r>
              <a:rPr lang="en-US" sz="13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</a:t>
            </a:r>
            <a:r>
              <a:rPr lang="en-US" sz="13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Spectator.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(local) : simple à partager, rapide à charger dans l’UI.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Stratégies anti-rate-limit : backoff + sleep + retry.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3</a:t>
            </a:r>
            <a:endParaRPr lang="zh-CN" altLang="en-US" dirty="0"/>
          </a:p>
        </p:txBody>
      </p:sp>
      <p:sp>
        <p:nvSpPr>
          <p:cNvPr id="14" name="Text 12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— vue d’ensemble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: collecte → calcul → affichage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38200" y="1126463"/>
            <a:ext cx="3291840" cy="10058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080" y="1236191"/>
            <a:ext cx="292608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data_base_riot.py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Collecte DB globale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50080" y="1126463"/>
            <a:ext cx="3291840" cy="10058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2960" y="1236191"/>
            <a:ext cx="292608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ingame_tab.py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 “live”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1960" y="1126463"/>
            <a:ext cx="3474720" cy="1005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4840" y="1236191"/>
            <a:ext cx="31089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interface.py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&amp; orchestration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47550" y="1464791"/>
            <a:ext cx="302530" cy="320040"/>
          </a:xfrm>
          <a:prstGeom prst="right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41920" y="1464791"/>
            <a:ext cx="320040" cy="320040"/>
          </a:xfrm>
          <a:prstGeom prst="right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200" y="2543783"/>
            <a:ext cx="3886200" cy="9144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9640" y="2616935"/>
            <a:ext cx="370332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locaux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participants.csv / matches.csv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84120" y="2137568"/>
            <a:ext cx="328082" cy="364180"/>
          </a:xfrm>
          <a:prstGeom prst="down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069462">
            <a:off x="2163686" y="3653716"/>
            <a:ext cx="525780" cy="301363"/>
          </a:xfrm>
          <a:prstGeom prst="right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6287" y="3682308"/>
            <a:ext cx="59436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0607" y="3743398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Sorties affichées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36327" y="4063438"/>
            <a:ext cx="557784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: tier list + matchups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: stats + tableaux + camembert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GAME : scan LiveClient/Spectator + “note”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4</a:t>
            </a:r>
            <a:endParaRPr lang="zh-CN" altLang="en-US" dirty="0"/>
          </a:p>
        </p:txBody>
      </p:sp>
      <p:sp>
        <p:nvSpPr>
          <p:cNvPr id="22" name="Text 20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  <p:sp>
        <p:nvSpPr>
          <p:cNvPr id="23" name="Shape 11"/>
          <p:cNvSpPr/>
          <p:nvPr/>
        </p:nvSpPr>
        <p:spPr>
          <a:xfrm rot="5400000">
            <a:off x="9683228" y="2208180"/>
            <a:ext cx="338862" cy="292607"/>
          </a:xfrm>
          <a:prstGeom prst="right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24" name="Shape 12"/>
          <p:cNvSpPr/>
          <p:nvPr/>
        </p:nvSpPr>
        <p:spPr>
          <a:xfrm>
            <a:off x="8024507" y="2545404"/>
            <a:ext cx="3886200" cy="9144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8001000" y="2615557"/>
            <a:ext cx="370332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locaux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0F172A"/>
                </a:solidFill>
                <a:latin typeface="Aptos" pitchFamily="34" charset="0"/>
              </a:rPr>
              <a:t>data_user</a:t>
            </a:r>
            <a:r>
              <a:rPr lang="en-US" sz="1200" dirty="0">
                <a:solidFill>
                  <a:srgbClr val="0F172A"/>
                </a:solidFill>
                <a:latin typeface="Aptos" pitchFamily="34" charset="0"/>
              </a:rPr>
              <a:t> participants</a:t>
            </a:r>
            <a:endParaRPr lang="en-US" sz="1200" dirty="0"/>
          </a:p>
        </p:txBody>
      </p:sp>
      <p:sp>
        <p:nvSpPr>
          <p:cNvPr id="27" name="Shape 15"/>
          <p:cNvSpPr/>
          <p:nvPr/>
        </p:nvSpPr>
        <p:spPr>
          <a:xfrm rot="8138916">
            <a:off x="9443465" y="3729876"/>
            <a:ext cx="525780" cy="301363"/>
          </a:xfrm>
          <a:prstGeom prst="right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— data_base_riot.py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 “mêta globale” à partir de l’API Riot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060704"/>
            <a:ext cx="5806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289304"/>
            <a:ext cx="5166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Rôle du script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" y="1700784"/>
            <a:ext cx="5166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d’entrée : clé API + région + objectif (# matchs).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Démarre sur des joueurs “seeds” (Riot IDs ou ladder).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Récupère une liste de matchs puis les détails de match.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Extrait 1 ligne par participant (role/champion/KDA/…)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Écrit en blocs dans participants.csv + matches.csv.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6208" y="1060704"/>
            <a:ext cx="5696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1243584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Boucle de </a:t>
            </a:r>
            <a:r>
              <a:rPr lang="en-US" sz="1500" b="1" dirty="0" err="1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collecte</a:t>
            </a:r>
            <a:r>
              <a:rPr lang="en-US" sz="15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47688" y="1746504"/>
            <a:ext cx="4983480" cy="50292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1856232"/>
            <a:ext cx="461772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Seeds (ladder / Riot IDs)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93124" y="2276856"/>
            <a:ext cx="292608" cy="320040"/>
          </a:xfrm>
          <a:prstGeom prst="down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47688" y="2615184"/>
            <a:ext cx="4983480" cy="5029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2724912"/>
            <a:ext cx="461772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matchlist_by_puuid (IDs)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93124" y="3145536"/>
            <a:ext cx="292608" cy="320040"/>
          </a:xfrm>
          <a:prstGeom prst="down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47688" y="3483864"/>
            <a:ext cx="4983480" cy="5029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0568" y="3593592"/>
            <a:ext cx="461772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match.by_id (détails)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93124" y="4014216"/>
            <a:ext cx="292608" cy="320040"/>
          </a:xfrm>
          <a:prstGeom prst="down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4352544"/>
            <a:ext cx="4983480" cy="5029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4462272"/>
            <a:ext cx="461772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Extraction participants (role/KDA/…)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93124" y="4882896"/>
            <a:ext cx="292608" cy="320040"/>
          </a:xfrm>
          <a:prstGeom prst="down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47688" y="5221224"/>
            <a:ext cx="498348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5330952"/>
            <a:ext cx="461772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 CSV 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5</a:t>
            </a:r>
            <a:endParaRPr lang="zh-CN" altLang="en-US" dirty="0"/>
          </a:p>
        </p:txBody>
      </p:sp>
      <p:sp>
        <p:nvSpPr>
          <p:cNvPr id="27" name="Text 25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— ingame_tab.py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d’une partie en cours (</a:t>
            </a:r>
            <a:r>
              <a:rPr lang="en-US" sz="1200" dirty="0" err="1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LiveClient</a:t>
            </a: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fr-FR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Spectator)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5798" y="1049614"/>
            <a:ext cx="5806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5838" y="1278214"/>
            <a:ext cx="5166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Rôle du module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5838" y="1689694"/>
            <a:ext cx="5166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Onglet “IN GAME” dans l’app.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 une partie : LiveClient local sinon Spectator API.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Récupère les 10 joueurs + champion joué.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Calcule des stats récentes (WR/KDA/nb matchs) + “note”.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Affiche 2 tables : Alliés vs Ennemis.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9398" y="1049614"/>
            <a:ext cx="5696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49438" y="1232494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Stratégie de détection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49438" y="1721795"/>
            <a:ext cx="2423160" cy="9601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9438" y="1799422"/>
            <a:ext cx="2423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(local)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521238" y="1726173"/>
            <a:ext cx="2148840" cy="9601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1238" y="1799422"/>
            <a:ext cx="2148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Spectator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(Riot API)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09758" y="2704678"/>
            <a:ext cx="292608" cy="320040"/>
          </a:xfrm>
          <a:prstGeom prst="down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98078" y="3061294"/>
            <a:ext cx="4160520" cy="54864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0958" y="3171022"/>
            <a:ext cx="3794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 joueurs + champions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82326" y="3637366"/>
            <a:ext cx="292608" cy="320040"/>
          </a:xfrm>
          <a:prstGeom prst="down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98078" y="3975694"/>
            <a:ext cx="4160520" cy="5486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80958" y="4085422"/>
            <a:ext cx="3794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Stats récentes + score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82326" y="4551766"/>
            <a:ext cx="292608" cy="320040"/>
          </a:xfrm>
          <a:prstGeom prst="downArrow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8078" y="4890094"/>
            <a:ext cx="4160520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0958" y="4999822"/>
            <a:ext cx="3794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Tables (alliés / ennemis)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6</a:t>
            </a:r>
            <a:endParaRPr lang="zh-CN" altLang="en-US" dirty="0"/>
          </a:p>
        </p:txBody>
      </p:sp>
      <p:sp>
        <p:nvSpPr>
          <p:cNvPr id="26" name="Text 24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— interface.py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Qt : onglets, calculs, affichages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1946" y="1051560"/>
            <a:ext cx="5806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1986" y="1280160"/>
            <a:ext cx="5166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Responsabilités principales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986" y="1691640"/>
            <a:ext cx="5166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Fenêtre principale + thème (clair/sombre).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onglets : META (global), MON PROFIL, IN GAME.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Chargement CSV (global / </a:t>
            </a:r>
            <a:r>
              <a:rPr lang="en-US" sz="1300" dirty="0" err="1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</a:t>
            </a:r>
            <a:r>
              <a:rPr lang="en-US" sz="13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Calculs : tier list (winrate/KDA), matchups, stats profil.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Graphiques : camembert des types joués (matplotlib).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5546" y="1051560"/>
            <a:ext cx="5696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5586" y="12344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Vue UI (schéma)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07026" y="2286000"/>
            <a:ext cx="1417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15786" y="2286000"/>
            <a:ext cx="1417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24546" y="2286000"/>
            <a:ext cx="1417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GAME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7</a:t>
            </a:r>
            <a:endParaRPr lang="zh-CN" alt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42" y="1911448"/>
            <a:ext cx="5484585" cy="33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Difficultés rencontrées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comment on les a gérées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682" y="1664608"/>
            <a:ext cx="5655730" cy="448457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07802" y="1664608"/>
            <a:ext cx="5777258" cy="448457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562" y="1737760"/>
            <a:ext cx="5235056" cy="2989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Problème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90682" y="1737760"/>
            <a:ext cx="5422022" cy="2989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682" y="2167528"/>
            <a:ext cx="5655730" cy="8470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07802" y="2167528"/>
            <a:ext cx="5777258" cy="8470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561" y="2304689"/>
            <a:ext cx="5281797" cy="59794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 Riot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0682" y="2304689"/>
            <a:ext cx="5468764" cy="59794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Backoff + retry + sleep entre appels (safe_call).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682" y="2944768"/>
            <a:ext cx="5655730" cy="8470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07802" y="2944768"/>
            <a:ext cx="5777258" cy="8470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561" y="3081929"/>
            <a:ext cx="5281797" cy="59794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Clé API expirée (401/403)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682" y="3081929"/>
            <a:ext cx="5468764" cy="59794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Détection + arrêt explicite (message clair).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682" y="3722008"/>
            <a:ext cx="5655730" cy="8470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07802" y="3722008"/>
            <a:ext cx="5777258" cy="8470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561" y="3859169"/>
            <a:ext cx="5281797" cy="59794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Spectator parfois indisponible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682" y="3859169"/>
            <a:ext cx="5468764" cy="59794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 err="1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LiveClient</a:t>
            </a:r>
            <a:r>
              <a:rPr lang="en-US" sz="13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→ spectator v5 → v4.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682" y="4499248"/>
            <a:ext cx="5655730" cy="8470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07802" y="4499248"/>
            <a:ext cx="5777258" cy="8470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561" y="4636409"/>
            <a:ext cx="5281797" cy="59794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fr-FR" altLang="zh-CN" sz="1300" dirty="0">
                <a:solidFill>
                  <a:srgbClr val="0F172A"/>
                </a:solidFill>
                <a:latin typeface="Aptos" pitchFamily="34" charset="0"/>
              </a:rPr>
              <a:t>Cohérence des identifiants (riotId / puuid / region routing) </a:t>
            </a:r>
            <a:endParaRPr lang="en-US" sz="1300" dirty="0">
              <a:solidFill>
                <a:srgbClr val="0F172A"/>
              </a:solidFill>
              <a:latin typeface="Aptos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90682" y="4636409"/>
            <a:ext cx="5468764" cy="59794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Normalisation et lecture flexible avant calculs.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8</a:t>
            </a:r>
            <a:endParaRPr lang="zh-CN" altLang="en-US" dirty="0"/>
          </a:p>
        </p:txBody>
      </p:sp>
      <p:sp>
        <p:nvSpPr>
          <p:cNvPr id="31" name="Text 29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Cahier des charges — réalisé 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l’outil couvre déjà (ou partiellement)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5060" y="1060704"/>
            <a:ext cx="116403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5100" y="1243584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Exigences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6540" y="1700784"/>
            <a:ext cx="108813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 — Tier List : classement par rôle avec winrate/KDA.</a:t>
            </a:r>
            <a:endParaRPr lang="en-US" sz="15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E6 — Analyse “match” (partiel) : évaluation des 10 joueurs d’une partie en cours.</a:t>
            </a:r>
            <a:endParaRPr lang="en-US" sz="15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E7 — Profil joueur (partiel) : stats, tableaux, camembert des types </a:t>
            </a:r>
            <a:r>
              <a:rPr lang="en-US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joués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54000" indent="-254000">
              <a:spcAft>
                <a:spcPts val="600"/>
              </a:spcAft>
              <a:buSzPct val="100000"/>
              <a:buFontTx/>
              <a:buChar char="•"/>
            </a:pPr>
            <a:r>
              <a:rPr lang="en-US" altLang="zh-CN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E8 — </a:t>
            </a:r>
            <a:r>
              <a:rPr lang="en-US" altLang="zh-CN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Filtre</a:t>
            </a:r>
            <a:r>
              <a:rPr lang="en-US" altLang="zh-CN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des </a:t>
            </a:r>
            <a:r>
              <a:rPr lang="en-US" altLang="zh-CN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statistiques</a:t>
            </a:r>
            <a:r>
              <a:rPr lang="en-US" altLang="zh-CN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selon</a:t>
            </a:r>
            <a:r>
              <a:rPr lang="en-US" altLang="zh-CN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le </a:t>
            </a:r>
            <a:r>
              <a:rPr lang="en-US" altLang="zh-CN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rôle</a:t>
            </a:r>
            <a:r>
              <a:rPr lang="en-US" altLang="zh-CN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54000" indent="-254000">
              <a:spcAft>
                <a:spcPts val="6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E9 — </a:t>
            </a:r>
            <a:r>
              <a:rPr lang="en-US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Bibliothèque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messages “</a:t>
            </a:r>
            <a:r>
              <a:rPr lang="en-US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toxique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positif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</a:t>
            </a:r>
            <a:r>
              <a:rPr lang="en-US" sz="15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multi-langue </a:t>
            </a:r>
          </a:p>
          <a:p>
            <a:pPr marL="254000" indent="-254000">
              <a:spcAft>
                <a:spcPts val="6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E10 — UI </a:t>
            </a:r>
            <a:r>
              <a:rPr lang="en-US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conçue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avec </a:t>
            </a:r>
            <a:r>
              <a:rPr lang="en-US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Qt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Designer </a:t>
            </a:r>
            <a:r>
              <a:rPr lang="en-US" sz="15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(et PySide6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5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 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Fenêtre unique en onglets (partiel : 3 onglets au lieu de 4 demandés).</a:t>
            </a:r>
          </a:p>
        </p:txBody>
      </p:sp>
      <p:sp>
        <p:nvSpPr>
          <p:cNvPr id="12" name="Shap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9</a:t>
            </a:r>
            <a:endParaRPr lang="zh-CN" altLang="en-US" dirty="0"/>
          </a:p>
        </p:txBody>
      </p:sp>
      <p:sp>
        <p:nvSpPr>
          <p:cNvPr id="13" name="Text 11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Cahier des charges — non réalisé 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</a:t>
            </a:r>
            <a:r>
              <a:rPr lang="en-US" sz="1200" dirty="0" err="1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manquants</a:t>
            </a:r>
            <a:r>
              <a:rPr lang="en-US" sz="1200" dirty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5844" y="1060704"/>
            <a:ext cx="116403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5884" y="1243584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5D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Exigences non couvertes (ou non finalisées)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7324" y="1700784"/>
            <a:ext cx="1088136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 — Recommandation de champions en draft (alliés/ennemis).</a:t>
            </a:r>
            <a:endParaRPr lang="en-US" sz="15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 — Moteur de recommandation combinant base globale + base </a:t>
            </a:r>
            <a:r>
              <a:rPr lang="en-US" sz="1500" dirty="0" err="1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utilisateur</a:t>
            </a:r>
            <a:r>
              <a:rPr lang="fr-FR" sz="15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endParaRPr lang="en-US" sz="15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 — Sorts d’invocateur optimaux selon rôle + compo adverse.</a:t>
            </a:r>
            <a:endParaRPr lang="en-US" sz="15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E8 — </a:t>
            </a:r>
            <a:r>
              <a:rPr lang="en-US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Filtre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des </a:t>
            </a:r>
            <a:r>
              <a:rPr lang="en-US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statistiques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selon</a:t>
            </a: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le patch et la region. 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/>
              <a:t>10</a:t>
            </a:r>
            <a:endParaRPr lang="zh-CN" alt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762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Annexe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</a:t>
            </a:r>
            <a:r>
              <a:rPr lang="en-US" sz="1200" dirty="0" smtClean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mon </a:t>
            </a:r>
            <a:r>
              <a:rPr lang="en-US" sz="1200" dirty="0" err="1" smtClean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</a:t>
            </a:r>
            <a:r>
              <a:rPr lang="en-US" sz="1200" dirty="0" smtClean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 smtClean="0"/>
              <a:t>11</a:t>
            </a:r>
            <a:endParaRPr lang="zh-CN" alt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767" y="1056756"/>
            <a:ext cx="9398421" cy="502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8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7620"/>
            <a:ext cx="12191695" cy="685800"/>
          </a:xfrm>
          <a:prstGeom prst="rect">
            <a:avLst/>
          </a:prstGeom>
          <a:solidFill>
            <a:srgbClr val="0C5D8B"/>
          </a:solidFill>
          <a:ln w="12700">
            <a:solidFill>
              <a:srgbClr val="0C5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Annexe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</a:t>
            </a:r>
            <a:r>
              <a:rPr lang="en-US" sz="1200" dirty="0" smtClean="0">
                <a:solidFill>
                  <a:srgbClr val="EAF3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game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r>
              <a:rPr lang="fr-FR" altLang="zh-CN" dirty="0" smtClean="0"/>
              <a:t>12</a:t>
            </a:r>
            <a:endParaRPr lang="zh-CN" alt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SuperLOL Assistant — Présentation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34" y="925264"/>
            <a:ext cx="10019291" cy="535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6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5,&quot;left&quot;:27.2,&quot;top&quot;:80.25,&quot;width&quot;:932.5600000000001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5,&quot;left&quot;:27.2,&quot;top&quot;:80.25,&quot;width&quot;:932.560000000000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5,&quot;left&quot;:27.2,&quot;top&quot;:80.25,&quot;width&quot;:932.560000000000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5,&quot;left&quot;:27.2,&quot;top&quot;:80.25,&quot;width&quot;:932.560000000000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5,&quot;left&quot;:27.2,&quot;top&quot;:80.25,&quot;width&quot;:932.560000000000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5,&quot;left&quot;:27.2,&quot;top&quot;:80.25,&quot;width&quot;:932.5600000000001}"/>
</p:tagLst>
</file>

<file path=ppt/theme/theme1.xml><?xml version="1.0" encoding="utf-8"?>
<a:theme xmlns:a="http://schemas.openxmlformats.org/drawingml/2006/main" name="大都市">
  <a:themeElements>
    <a:clrScheme name="大都市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大都市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大都市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TM03457491[[fn=大都市]]</Template>
  <TotalTime>102</TotalTime>
  <Words>802</Words>
  <Application>Microsoft Office PowerPoint</Application>
  <PresentationFormat>宽屏</PresentationFormat>
  <Paragraphs>156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等线</vt:lpstr>
      <vt:lpstr>宋体</vt:lpstr>
      <vt:lpstr>Arial</vt:lpstr>
      <vt:lpstr>Calibri Light</vt:lpstr>
      <vt:lpstr>大都市</vt:lpstr>
      <vt:lpstr>Super LOL Assistant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SuperLOL Assistant (auto-generated)</dc:creator>
  <cp:lastModifiedBy>T14</cp:lastModifiedBy>
  <cp:revision>21</cp:revision>
  <dcterms:created xsi:type="dcterms:W3CDTF">2026-02-10T04:31:00Z</dcterms:created>
  <dcterms:modified xsi:type="dcterms:W3CDTF">2026-02-12T12:35:36Z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A8778591550E4552B7D350D0DC24A7E1_12</vt:lpwstr>
  </property>
  <property fmtid="{D5CDD505-2E9C-101B-9397-08002B2CF9AE}" pid="3" name="KSOProductBuildVer">
    <vt:lpwstr>2052-12.1.0.25225</vt:lpwstr>
  </property>
</Properties>
</file>