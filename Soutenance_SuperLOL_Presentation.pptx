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"/>
  </p:notesMasterIdLst>
  <p:sldIdLst>
    <p:sldId id="267" r:id="rId3"/>
    <p:sldId id="266" r:id="rId4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6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d'alignement sur les attentes.
[Sources]
- Capture des attentes fournie par l'utilisateur (image)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Code: data_base_riot.py, ingame_tab.py, interface.py (imports + logique de backoff)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Code: data_base_riot.py (CSV global)
- Code: ingame_tab.py (LiveClient + spectator)
- Code: interface.py (tabs + affichages)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data_base_riot.py (safe_call, collect_dataset, CSV participants/matches)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ingame_tab.py (scan_live, LiveClient probe, spectator fallback, tables alliés/ennemis)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interface.py (MainWindow tabs, MetaTab tier list, ProfileTab pie chart, thème QSS)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data_base_riot.py (safe_call + batch CSV)
- ingame_tab.py (fallback + safe_call)
- interface.py (lecture/normalisation CSV + UI tables compactes)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Fiche projet (table E1..E10)
- interface.py (tabs, MetaTab, ProfileTab)
- ingame_tab.py (scan des 10 joueurs)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Fiche projet (table E1..E10)
- Lecture des scripts fournis (absence de recommandation draft/sorts/patche/Qt Designer/multi-langue)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4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8800" spc="-120" baseline="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2" y="4206876"/>
            <a:ext cx="9228201" cy="164592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5586B75A-687E-405C-8A0B-8D00578BA2C3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D3E9E-A95C-48F2-B4BF-A71542E0BE9A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3355848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8800" b="0" baseline="0">
                <a:solidFill>
                  <a:schemeClr val="accent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4204209"/>
            <a:ext cx="9226296" cy="1645920"/>
          </a:xfrm>
        </p:spPr>
        <p:txBody>
          <a:bodyPr anchor="t">
            <a:normAutofit/>
          </a:bodyPr>
          <a:lstStyle>
            <a:lvl1pPr marL="0" indent="0"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0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952B5-7A2F-4CC8-B7CE-9234E21C2837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DA07A-9201-4B4B-BAF2-015AFA30F520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7E00A-486F-4252-8B1D-E32645521F49}" type="datetimeFigureOut">
              <a:rPr lang="en-US" dirty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F5F92-E675-4B36-9A60-69A962A68675}" type="datetimeFigureOut">
              <a:rPr lang="en-US" dirty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40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2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defRPr sz="18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6E2C9B-5FA2-460D-9BE7-B0812FC2A6FF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7"/>
            <a:ext cx="10780776" cy="613283"/>
          </a:xfrm>
        </p:spPr>
        <p:txBody>
          <a:bodyPr anchor="b">
            <a:normAutofit/>
          </a:bodyPr>
          <a:lstStyle>
            <a:lvl1pPr>
              <a:defRPr sz="3200" b="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800"/>
              </a:spcBef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4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5586B75A-687E-405C-8A0B-8D00578BA2C3}" type="datetimeFigureOut">
              <a:rPr lang="en-US" dirty="0"/>
            </a:fld>
            <a:endParaRPr 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E5243-F52A-4D37-9694-EB26C6C3191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0" y="695325"/>
            <a:ext cx="2628900" cy="48006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5" y="714375"/>
            <a:ext cx="7734300" cy="5400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7B6E1-634A-48DC-9E8B-D894023267EF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6" y="5876412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300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5400" kern="1200" spc="-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85000"/>
        </a:lnSpc>
        <a:spcBef>
          <a:spcPts val="1300"/>
        </a:spcBef>
        <a:buFont typeface="Arial" panose="020B0604020202020204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7345" indent="-342900" algn="l" defTabSz="914400" rtl="0" eaLnBrk="1" latinLnBrk="0" hangingPunct="1">
        <a:lnSpc>
          <a:spcPct val="85000"/>
        </a:lnSpc>
        <a:spcBef>
          <a:spcPts val="600"/>
        </a:spcBef>
        <a:buFont typeface="Arial" panose="020B0604020202020204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548640" algn="l" defTabSz="914400" rtl="0" eaLnBrk="1" latinLnBrk="0" hangingPunct="1">
        <a:lnSpc>
          <a:spcPct val="85000"/>
        </a:lnSpc>
        <a:spcBef>
          <a:spcPts val="600"/>
        </a:spcBef>
        <a:buFont typeface="Arial" panose="020B0604020202020204" pitchFamily="34" charset="0"/>
        <a:buChar char=" "/>
        <a:defRPr sz="20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822960" indent="-822960" algn="l" defTabSz="914400" rtl="0" eaLnBrk="1" latinLnBrk="0" hangingPunct="1">
        <a:lnSpc>
          <a:spcPct val="85000"/>
        </a:lnSpc>
        <a:spcBef>
          <a:spcPts val="600"/>
        </a:spcBef>
        <a:buFont typeface="Arial" panose="020B0604020202020204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097280" algn="l" defTabSz="914400" rtl="0" eaLnBrk="1" latinLnBrk="0" hangingPunct="1">
        <a:lnSpc>
          <a:spcPct val="85000"/>
        </a:lnSpc>
        <a:spcBef>
          <a:spcPts val="600"/>
        </a:spcBef>
        <a:buFont typeface="Arial" panose="020B0604020202020204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150" indent="-228600" algn="l" defTabSz="914400" rtl="0" eaLnBrk="1" latinLnBrk="0" hangingPunct="1">
        <a:lnSpc>
          <a:spcPct val="85000"/>
        </a:lnSpc>
        <a:spcBef>
          <a:spcPts val="600"/>
        </a:spcBef>
        <a:buFont typeface="Arial" panose="020B0604020202020204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00175" indent="-228600" algn="l" defTabSz="914400" rtl="0" eaLnBrk="1" latinLnBrk="0" hangingPunct="1">
        <a:lnSpc>
          <a:spcPct val="85000"/>
        </a:lnSpc>
        <a:spcBef>
          <a:spcPts val="600"/>
        </a:spcBef>
        <a:buFont typeface="Arial" panose="020B0604020202020204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00200" indent="-228600" algn="l" defTabSz="914400" rtl="0" eaLnBrk="1" latinLnBrk="0" hangingPunct="1">
        <a:lnSpc>
          <a:spcPct val="85000"/>
        </a:lnSpc>
        <a:spcBef>
          <a:spcPts val="600"/>
        </a:spcBef>
        <a:buFont typeface="Arial" panose="020B0604020202020204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00225" indent="-228600" algn="l" defTabSz="914400" rtl="0" eaLnBrk="1" latinLnBrk="0" hangingPunct="1">
        <a:lnSpc>
          <a:spcPct val="85000"/>
        </a:lnSpc>
        <a:spcBef>
          <a:spcPts val="600"/>
        </a:spcBef>
        <a:buFont typeface="Arial" panose="020B0604020202020204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.xml"/><Relationship Id="rId7" Type="http://schemas.openxmlformats.org/officeDocument/2006/relationships/slideLayout" Target="../slideLayouts/slideLayout12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altLang="zh-CN" dirty="0"/>
              <a:t>Super LOL Assisatant		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altLang="zh-CN" dirty="0"/>
              <a:t>Shutian LEI, Lixiang ZHANG </a:t>
            </a:r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49213"/>
            <a:ext cx="3739473" cy="14664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  <a:headEnd/>
            <a:tailEnd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8" name="Shape 1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1</a:t>
            </a:r>
            <a:endParaRPr lang="zh-CN" altLang="en-US" dirty="0"/>
          </a:p>
        </p:txBody>
      </p:sp>
      <p:sp>
        <p:nvSpPr>
          <p:cNvPr id="9" name="Text 17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Sommaire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87745" y="911481"/>
            <a:ext cx="11116769" cy="5166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51560" y="1828994"/>
            <a:ext cx="5913444" cy="4068886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Contexte + objectif de </a:t>
            </a:r>
            <a:r>
              <a:rPr lang="en-US" sz="20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l’outil</a:t>
            </a:r>
            <a:r>
              <a:rPr lang="en-US" sz="20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2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Choix techniques (packages) + pourquoi.</a:t>
            </a:r>
            <a:endParaRPr lang="en-US" sz="2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(3 scripts) + flux de données.</a:t>
            </a:r>
            <a:endParaRPr lang="en-US" sz="2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Bilan cahier des charges : fait / non fait / </a:t>
            </a:r>
            <a:r>
              <a:rPr lang="en-US" sz="20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partiel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2</a:t>
            </a:r>
            <a:endParaRPr lang="zh-CN" altLang="en-US" dirty="0"/>
          </a:p>
        </p:txBody>
      </p:sp>
      <p:sp>
        <p:nvSpPr>
          <p:cNvPr id="20" name="Text 17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Choix techniques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Pourquoi ces outils / packages ?</a:t>
            </a:r>
            <a:endParaRPr lang="en-US" sz="1200" dirty="0"/>
          </a:p>
        </p:txBody>
      </p:sp>
      <p:sp>
        <p:nvSpPr>
          <p:cNvPr id="5" name="Shape 3"/>
          <p:cNvSpPr/>
          <p:nvPr>
            <p:custDataLst>
              <p:tags r:id="rId1"/>
            </p:custDataLst>
          </p:nvPr>
        </p:nvSpPr>
        <p:spPr>
          <a:xfrm>
            <a:off x="345440" y="1019175"/>
            <a:ext cx="58064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>
            <p:custDataLst>
              <p:tags r:id="rId2"/>
            </p:custDataLst>
          </p:nvPr>
        </p:nvSpPr>
        <p:spPr>
          <a:xfrm>
            <a:off x="548640" y="1280160"/>
            <a:ext cx="51663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Stack logiciel</a:t>
            </a:r>
            <a:endParaRPr lang="en-US" sz="1600" dirty="0"/>
          </a:p>
        </p:txBody>
      </p:sp>
      <p:sp>
        <p:nvSpPr>
          <p:cNvPr id="7" name="Text 5"/>
          <p:cNvSpPr/>
          <p:nvPr>
            <p:custDataLst>
              <p:tags r:id="rId3"/>
            </p:custDataLst>
          </p:nvPr>
        </p:nvSpPr>
        <p:spPr>
          <a:xfrm>
            <a:off x="548640" y="1691640"/>
            <a:ext cx="5166360" cy="4206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: prototypage rapide + écosystème data.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PySide6 / Qt : application desktop multi-onglets.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Matplotlib : graphiques intégrés dans Qt.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pandas / numpy : agrégation + nettoyage des données.</a:t>
            </a:r>
            <a:endParaRPr lang="en-US" sz="1300" dirty="0"/>
          </a:p>
        </p:txBody>
      </p:sp>
      <p:sp>
        <p:nvSpPr>
          <p:cNvPr id="8" name="Shape 6"/>
          <p:cNvSpPr/>
          <p:nvPr>
            <p:custDataLst>
              <p:tags r:id="rId4"/>
            </p:custDataLst>
          </p:nvPr>
        </p:nvSpPr>
        <p:spPr>
          <a:xfrm>
            <a:off x="6172200" y="1060450"/>
            <a:ext cx="56967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>
            <p:custDataLst>
              <p:tags r:id="rId5"/>
            </p:custDataLst>
          </p:nvPr>
        </p:nvSpPr>
        <p:spPr>
          <a:xfrm>
            <a:off x="6492240" y="1280160"/>
            <a:ext cx="5056632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Accès données Riot</a:t>
            </a:r>
            <a:endParaRPr lang="en-US" sz="1600" dirty="0"/>
          </a:p>
        </p:txBody>
      </p:sp>
      <p:sp>
        <p:nvSpPr>
          <p:cNvPr id="10" name="Text 8"/>
          <p:cNvSpPr/>
          <p:nvPr>
            <p:custDataLst>
              <p:tags r:id="rId6"/>
            </p:custDataLst>
          </p:nvPr>
        </p:nvSpPr>
        <p:spPr>
          <a:xfrm>
            <a:off x="6492240" y="1691640"/>
            <a:ext cx="5056632" cy="4206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riotwatcher : wrappers stables pour l’API Riot.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requests : fallback (LiveClient / endpoints directs).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(local) : simple à partager, rapide à charger dans l’UI.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Stratégies anti-rate-limit : backoff + sleep + retry.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3</a:t>
            </a:r>
            <a:endParaRPr lang="zh-CN" altLang="en-US" dirty="0"/>
          </a:p>
        </p:txBody>
      </p:sp>
      <p:sp>
        <p:nvSpPr>
          <p:cNvPr id="14" name="Text 12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— vue d’ensemble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: collecte → calcul → affichage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38200" y="1126463"/>
            <a:ext cx="3291840" cy="1005840"/>
          </a:xfrm>
          <a:prstGeom prst="roundRect">
            <a:avLst/>
          </a:prstGeom>
          <a:solidFill>
            <a:srgbClr val="EAF3FA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1080" y="1236191"/>
            <a:ext cx="2926080" cy="7863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data_base_riot.py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Collecte DB globale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50080" y="1126463"/>
            <a:ext cx="3291840" cy="100584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2960" y="1236191"/>
            <a:ext cx="2926080" cy="7863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ingame_tab.py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Analyse “live”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61960" y="1126463"/>
            <a:ext cx="3474720" cy="100584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44840" y="1236191"/>
            <a:ext cx="3108960" cy="7863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interface.py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UI &amp; orchestration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147550" y="1464791"/>
            <a:ext cx="302530" cy="320040"/>
          </a:xfrm>
          <a:prstGeom prst="right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41920" y="1464791"/>
            <a:ext cx="320040" cy="320040"/>
          </a:xfrm>
          <a:prstGeom prst="right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8200" y="2543783"/>
            <a:ext cx="3886200" cy="91440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9640" y="2616935"/>
            <a:ext cx="3703320" cy="7680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locaux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participants.csv / matches.csv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484120" y="2137568"/>
            <a:ext cx="328082" cy="36418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069462">
            <a:off x="2163686" y="3653716"/>
            <a:ext cx="525780" cy="301363"/>
          </a:xfrm>
          <a:prstGeom prst="right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6287" y="3682308"/>
            <a:ext cx="594360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90607" y="3743398"/>
            <a:ext cx="53949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Sorties affichées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36327" y="4063438"/>
            <a:ext cx="5577840" cy="1920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META : tier list + matchups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PROFIL : stats + tableaux + camembert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GAME : scan LiveClient/Spectator + “note”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4</a:t>
            </a:r>
            <a:endParaRPr lang="zh-CN" altLang="en-US" dirty="0"/>
          </a:p>
        </p:txBody>
      </p:sp>
      <p:sp>
        <p:nvSpPr>
          <p:cNvPr id="22" name="Text 20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  <p:sp>
        <p:nvSpPr>
          <p:cNvPr id="23" name="Shape 11"/>
          <p:cNvSpPr/>
          <p:nvPr/>
        </p:nvSpPr>
        <p:spPr>
          <a:xfrm rot="5400000">
            <a:off x="9683228" y="2208180"/>
            <a:ext cx="338862" cy="292607"/>
          </a:xfrm>
          <a:prstGeom prst="right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24" name="Shape 12"/>
          <p:cNvSpPr/>
          <p:nvPr/>
        </p:nvSpPr>
        <p:spPr>
          <a:xfrm>
            <a:off x="8024507" y="2545404"/>
            <a:ext cx="3886200" cy="91440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</p:sp>
      <p:sp>
        <p:nvSpPr>
          <p:cNvPr id="26" name="Text 13"/>
          <p:cNvSpPr/>
          <p:nvPr/>
        </p:nvSpPr>
        <p:spPr>
          <a:xfrm>
            <a:off x="8001000" y="2615557"/>
            <a:ext cx="3703320" cy="7680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locaux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 err="1">
                <a:solidFill>
                  <a:srgbClr val="0F172A"/>
                </a:solidFill>
                <a:latin typeface="Aptos" pitchFamily="34" charset="0"/>
              </a:rPr>
              <a:t>data_user</a:t>
            </a:r>
            <a:r>
              <a:rPr lang="en-US" sz="1200" dirty="0">
                <a:solidFill>
                  <a:srgbClr val="0F172A"/>
                </a:solidFill>
                <a:latin typeface="Aptos" pitchFamily="34" charset="0"/>
              </a:rPr>
              <a:t> participants</a:t>
            </a:r>
            <a:endParaRPr lang="en-US" sz="1200" dirty="0"/>
          </a:p>
        </p:txBody>
      </p:sp>
      <p:sp>
        <p:nvSpPr>
          <p:cNvPr id="27" name="Shape 15"/>
          <p:cNvSpPr/>
          <p:nvPr/>
        </p:nvSpPr>
        <p:spPr>
          <a:xfrm rot="8138916">
            <a:off x="9443465" y="3729876"/>
            <a:ext cx="525780" cy="301363"/>
          </a:xfrm>
          <a:prstGeom prst="right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— data_base_riot.py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Collecte “mêta globale” à partir de l’API Riot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92608" y="1060704"/>
            <a:ext cx="58064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12648" y="1289304"/>
            <a:ext cx="51663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Rôle du script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12648" y="1700784"/>
            <a:ext cx="5166360" cy="4206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d’entrée : clé API + région + objectif (# matchs).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Démarre sur des joueurs “seeds” (Riot IDs ou ladder).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Récupère une liste de matchs puis les détails de match.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Extrait 1 ligne par participant (role/champion/KDA/…)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Écrit en blocs dans participants.csv + matches.csv.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6208" y="1060704"/>
            <a:ext cx="56967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56248" y="1243584"/>
            <a:ext cx="5120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Boucle de </a:t>
            </a:r>
            <a:r>
              <a:rPr lang="en-US" sz="1500" b="1" dirty="0" err="1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collecte</a:t>
            </a:r>
            <a:r>
              <a:rPr lang="en-US" sz="15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647688" y="1746504"/>
            <a:ext cx="4983480" cy="502920"/>
          </a:xfrm>
          <a:prstGeom prst="roundRect">
            <a:avLst/>
          </a:prstGeom>
          <a:solidFill>
            <a:srgbClr val="EAF3FA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30568" y="1856232"/>
            <a:ext cx="4617720" cy="2834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Seeds (ladder / Riot IDs)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93124" y="2276856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47688" y="2615184"/>
            <a:ext cx="4983480" cy="50292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30568" y="2724912"/>
            <a:ext cx="4617720" cy="2834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matchlist_by_puuid (IDs)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993124" y="3145536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47688" y="3483864"/>
            <a:ext cx="4983480" cy="50292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30568" y="3593592"/>
            <a:ext cx="4617720" cy="2834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match.by_id (détails)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993124" y="4014216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47688" y="4352544"/>
            <a:ext cx="4983480" cy="50292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0568" y="4462272"/>
            <a:ext cx="4617720" cy="2834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Extraction participants (role/KDA/…)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993124" y="4882896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47688" y="5221224"/>
            <a:ext cx="4983480" cy="5029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30568" y="5330952"/>
            <a:ext cx="4617720" cy="2834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Append CSV 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5</a:t>
            </a:r>
            <a:endParaRPr lang="zh-CN" altLang="en-US" dirty="0"/>
          </a:p>
        </p:txBody>
      </p:sp>
      <p:sp>
        <p:nvSpPr>
          <p:cNvPr id="27" name="Text 25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— ingame_tab.py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Analyse d’une partie en cours (</a:t>
            </a:r>
            <a:r>
              <a:rPr lang="en-US" sz="1200" dirty="0" err="1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LiveClient</a:t>
            </a: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fr-FR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</a:t>
            </a: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Spectator)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85798" y="1049614"/>
            <a:ext cx="58064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05838" y="1278214"/>
            <a:ext cx="51663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Rôle du module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5838" y="1689694"/>
            <a:ext cx="5166360" cy="4206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Onglet “IN GAME” dans l’app.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Détecte une partie : LiveClient local sinon Spectator API.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Récupère les 10 joueurs + champion joué.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Calcule des stats récentes (WR/KDA/nb matchs) + “note”.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Affiche 2 tables : Alliés vs Ennemis.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29398" y="1049614"/>
            <a:ext cx="56967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49438" y="1232494"/>
            <a:ext cx="5120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Stratégie de détection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49438" y="1721795"/>
            <a:ext cx="2423160" cy="9601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49438" y="1799422"/>
            <a:ext cx="242316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LiveClient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(local)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521238" y="1726173"/>
            <a:ext cx="2148840" cy="96012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1238" y="1799422"/>
            <a:ext cx="21488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Spectator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(Riot API)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09758" y="2704678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98078" y="3061294"/>
            <a:ext cx="4160520" cy="548640"/>
          </a:xfrm>
          <a:prstGeom prst="roundRect">
            <a:avLst/>
          </a:prstGeom>
          <a:solidFill>
            <a:srgbClr val="EAF3FA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80958" y="3171022"/>
            <a:ext cx="379476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Liste joueurs + champions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082326" y="3637366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98078" y="3975694"/>
            <a:ext cx="4160520" cy="54864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80958" y="4085422"/>
            <a:ext cx="379476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Stats récentes + score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082326" y="4551766"/>
            <a:ext cx="292608" cy="320040"/>
          </a:xfrm>
          <a:prstGeom prst="downArrow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098078" y="4890094"/>
            <a:ext cx="4160520" cy="54864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80958" y="4999822"/>
            <a:ext cx="379476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Tables (alliés / ennemis)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6</a:t>
            </a:r>
            <a:endParaRPr lang="zh-CN" altLang="en-US" dirty="0"/>
          </a:p>
        </p:txBody>
      </p:sp>
      <p:sp>
        <p:nvSpPr>
          <p:cNvPr id="26" name="Text 24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— interface.py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Qt : onglets, calculs, affichages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1946" y="1051560"/>
            <a:ext cx="58064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71986" y="1280160"/>
            <a:ext cx="51663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Responsabilités principales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71986" y="1691640"/>
            <a:ext cx="5166360" cy="4206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Fenêtre principale + thème (clair/sombre).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onglets : META (global), MON PROFIL, IN GAME.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Chargement CSV (global / perso) + normalisation colonnes.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Calculs : tier list (winrate/KDA), matchups, stats profil.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Graphiques : camembert des types joués (matplotlib).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5546" y="1051560"/>
            <a:ext cx="56967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15586" y="1234440"/>
            <a:ext cx="5120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Vue UI (schéma)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15586" y="1645920"/>
            <a:ext cx="5074920" cy="361188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15586" y="1645920"/>
            <a:ext cx="5074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52746" y="1755648"/>
            <a:ext cx="32918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SuperLOL Assistant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07026" y="2212848"/>
            <a:ext cx="1417320" cy="320040"/>
          </a:xfrm>
          <a:prstGeom prst="round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07026" y="2286000"/>
            <a:ext cx="14173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15786" y="2212848"/>
            <a:ext cx="1417320" cy="320040"/>
          </a:xfrm>
          <a:prstGeom prst="round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15786" y="2286000"/>
            <a:ext cx="14173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624546" y="2212848"/>
            <a:ext cx="1417320" cy="320040"/>
          </a:xfrm>
          <a:prstGeom prst="round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24546" y="2286000"/>
            <a:ext cx="14173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GAME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07026" y="2606040"/>
            <a:ext cx="489204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89906" y="2743200"/>
            <a:ext cx="45262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Calculs + tables + graph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81346" y="3063240"/>
            <a:ext cx="448056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Tier list par rôle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Matchups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Stats perso + camembert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7</a:t>
            </a:r>
            <a:endParaRPr lang="zh-CN" altLang="en-US" dirty="0"/>
          </a:p>
        </p:txBody>
      </p:sp>
      <p:sp>
        <p:nvSpPr>
          <p:cNvPr id="24" name="Text 22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Difficultés rencontrées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 comment on les a gérées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682" y="1664608"/>
            <a:ext cx="5655730" cy="448457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07802" y="1664608"/>
            <a:ext cx="5777258" cy="448457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562" y="1737760"/>
            <a:ext cx="5235056" cy="29897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Problème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90682" y="1737760"/>
            <a:ext cx="5422022" cy="29897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Solution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682" y="2167528"/>
            <a:ext cx="5655730" cy="847085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07802" y="2167528"/>
            <a:ext cx="5777258" cy="847085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561" y="2304689"/>
            <a:ext cx="5281797" cy="59794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Rate limit Riot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190682" y="2304689"/>
            <a:ext cx="5468764" cy="59794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Backoff + retry + sleep entre appels (safe_call).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5682" y="2944768"/>
            <a:ext cx="5655730" cy="84708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07802" y="2944768"/>
            <a:ext cx="5777258" cy="84708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561" y="3081929"/>
            <a:ext cx="5281797" cy="59794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Clé API expirée (401/403)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90682" y="3081929"/>
            <a:ext cx="5468764" cy="59794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Détection + arrêt explicite (message clair).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5682" y="3722008"/>
            <a:ext cx="5655730" cy="847085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07802" y="3722008"/>
            <a:ext cx="5777258" cy="847085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561" y="3859169"/>
            <a:ext cx="5281797" cy="59794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Spectator parfois indisponible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90682" y="3859169"/>
            <a:ext cx="5468764" cy="59794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: LiveClient local → spectator v5 → v4.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5682" y="4499248"/>
            <a:ext cx="5655730" cy="84708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07802" y="4499248"/>
            <a:ext cx="5777258" cy="84708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561" y="4636409"/>
            <a:ext cx="5281797" cy="597942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fr-FR" altLang="zh-CN" sz="1300" dirty="0">
                <a:solidFill>
                  <a:srgbClr val="0F172A"/>
                </a:solidFill>
                <a:latin typeface="Aptos" pitchFamily="34" charset="0"/>
              </a:rPr>
              <a:t>Cohérence des identifiants (riotId / puuid / region routing) </a:t>
            </a:r>
            <a:endParaRPr lang="en-US" sz="1300" dirty="0">
              <a:solidFill>
                <a:srgbClr val="0F172A"/>
              </a:solidFill>
              <a:latin typeface="Aptos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190682" y="4636409"/>
            <a:ext cx="5468764" cy="59794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Normalisation et lecture flexible avant calculs.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8</a:t>
            </a:r>
            <a:endParaRPr lang="zh-CN" altLang="en-US" dirty="0"/>
          </a:p>
        </p:txBody>
      </p:sp>
      <p:sp>
        <p:nvSpPr>
          <p:cNvPr id="31" name="Text 29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Cahier des charges — réalisé 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 que l’outil couvre déjà (ou partiellement)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05060" y="1060704"/>
            <a:ext cx="116403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25100" y="1243584"/>
            <a:ext cx="10972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Exigences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16540" y="1700784"/>
            <a:ext cx="10881360" cy="3108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E5 — Tier List : classement par rôle avec winrate/KDA.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E6 — Analyse “match” (partiel) : évaluation des 10 joueurs d’une partie en cours.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E7 — Profil joueur (partiel) : stats, tableaux, camembert des types </a:t>
            </a:r>
            <a:r>
              <a:rPr lang="en-US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joués</a:t>
            </a: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500" dirty="0">
              <a:solidFill>
                <a:srgbClr val="0F172A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marL="254000" indent="-254000">
              <a:spcAft>
                <a:spcPts val="600"/>
              </a:spcAft>
              <a:buSzPct val="100000"/>
              <a:buFontTx/>
              <a:buChar char="•"/>
            </a:pPr>
            <a:r>
              <a:rPr lang="en-US" altLang="zh-CN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E8 — </a:t>
            </a:r>
            <a:r>
              <a:rPr lang="en-US" altLang="zh-CN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Filtre</a:t>
            </a:r>
            <a:r>
              <a:rPr lang="en-US" altLang="zh-CN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des </a:t>
            </a:r>
            <a:r>
              <a:rPr lang="en-US" altLang="zh-CN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statistiques</a:t>
            </a:r>
            <a:r>
              <a:rPr lang="en-US" altLang="zh-CN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altLang="zh-CN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selon</a:t>
            </a:r>
            <a:r>
              <a:rPr lang="en-US" altLang="zh-CN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le </a:t>
            </a:r>
            <a:r>
              <a:rPr lang="en-US" altLang="zh-CN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rôle</a:t>
            </a:r>
            <a:r>
              <a:rPr lang="en-US" altLang="zh-CN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E1 — Fenêtre unique en onglets (partiel : 3 onglets au lieu de 4 demandés).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9</a:t>
            </a:r>
            <a:endParaRPr lang="zh-CN" altLang="en-US" dirty="0"/>
          </a:p>
        </p:txBody>
      </p:sp>
      <p:sp>
        <p:nvSpPr>
          <p:cNvPr id="13" name="Text 11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C5D8B"/>
          </a:solidFill>
          <a:ln w="12700">
            <a:solidFill>
              <a:srgbClr val="0C5D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"/>
            <a:ext cx="11155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Cahier des charges — non réalisé 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402336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Points </a:t>
            </a:r>
            <a:r>
              <a:rPr lang="en-US" sz="1200" dirty="0" err="1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manquants</a:t>
            </a:r>
            <a:r>
              <a:rPr lang="en-US" sz="1200" dirty="0">
                <a:solidFill>
                  <a:srgbClr val="EAF3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5844" y="1060704"/>
            <a:ext cx="11640312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EC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5884" y="1243584"/>
            <a:ext cx="10972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C5D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Exigences non couvertes (ou non finalisées)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7324" y="1700784"/>
            <a:ext cx="10881360" cy="3291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E2 — Recommandation de champions en draft (alliés/ennemis).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E3 — Moteur de recommandation combinant base globale + base utilisateur.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E4 — Sorts d’invocateur optimaux selon rôle + compo adverse.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E8 — </a:t>
            </a:r>
            <a:r>
              <a:rPr lang="en-US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Filtre</a:t>
            </a: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des </a:t>
            </a:r>
            <a:r>
              <a:rPr lang="en-US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statistiques</a:t>
            </a: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500" dirty="0" err="1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selon</a:t>
            </a: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le patch et la region. 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E9 — UI 100% anglais + bibliothèque de messages “toxique positif” multi-langue.</a:t>
            </a:r>
            <a:endParaRPr lang="en-US" sz="15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E10 — UI conçue avec Qt Designer (UI actuelle codée en PySide6) ???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6F8FA"/>
          </a:solidFill>
          <a:ln w="12700">
            <a:solidFill>
              <a:srgbClr val="D9E3EC"/>
            </a:solidFill>
            <a:prstDash val="solid"/>
          </a:ln>
        </p:spPr>
        <p:txBody>
          <a:bodyPr/>
          <a:lstStyle/>
          <a:p>
            <a:r>
              <a:rPr lang="fr-FR" altLang="zh-CN" dirty="0"/>
              <a:t>10</a:t>
            </a:r>
            <a:endParaRPr lang="zh-CN" altLang="en-US" dirty="0"/>
          </a:p>
        </p:txBody>
      </p:sp>
      <p:sp>
        <p:nvSpPr>
          <p:cNvPr id="11" name="Text 9"/>
          <p:cNvSpPr/>
          <p:nvPr/>
        </p:nvSpPr>
        <p:spPr>
          <a:xfrm>
            <a:off x="548640" y="6583680"/>
            <a:ext cx="1115568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SuperLOL Assistant — Présentation </a:t>
            </a:r>
            <a:r>
              <a:rPr lang="en-US" sz="1000" dirty="0" err="1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</a:t>
            </a:r>
            <a:r>
              <a:rPr lang="en-US" sz="10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02.85,&quot;left&quot;:27.2,&quot;top&quot;:80.25,&quot;width&quot;:932.5600000000001}"/>
</p:tagLst>
</file>

<file path=ppt/tags/tag2.xml><?xml version="1.0" encoding="utf-8"?>
<p:tagLst xmlns:p="http://schemas.openxmlformats.org/presentationml/2006/main">
  <p:tag name="KSO_WM_DIAGRAM_VIRTUALLY_FRAME" val="{&quot;height&quot;:402.85,&quot;left&quot;:27.2,&quot;top&quot;:80.25,&quot;width&quot;:932.5600000000001}"/>
</p:tagLst>
</file>

<file path=ppt/tags/tag3.xml><?xml version="1.0" encoding="utf-8"?>
<p:tagLst xmlns:p="http://schemas.openxmlformats.org/presentationml/2006/main">
  <p:tag name="KSO_WM_DIAGRAM_VIRTUALLY_FRAME" val="{&quot;height&quot;:402.85,&quot;left&quot;:27.2,&quot;top&quot;:80.25,&quot;width&quot;:932.5600000000001}"/>
</p:tagLst>
</file>

<file path=ppt/tags/tag4.xml><?xml version="1.0" encoding="utf-8"?>
<p:tagLst xmlns:p="http://schemas.openxmlformats.org/presentationml/2006/main">
  <p:tag name="KSO_WM_DIAGRAM_VIRTUALLY_FRAME" val="{&quot;height&quot;:402.85,&quot;left&quot;:27.2,&quot;top&quot;:80.25,&quot;width&quot;:932.5600000000001}"/>
</p:tagLst>
</file>

<file path=ppt/tags/tag5.xml><?xml version="1.0" encoding="utf-8"?>
<p:tagLst xmlns:p="http://schemas.openxmlformats.org/presentationml/2006/main">
  <p:tag name="KSO_WM_DIAGRAM_VIRTUALLY_FRAME" val="{&quot;height&quot;:402.85,&quot;left&quot;:27.2,&quot;top&quot;:80.25,&quot;width&quot;:932.5600000000001}"/>
</p:tagLst>
</file>

<file path=ppt/tags/tag6.xml><?xml version="1.0" encoding="utf-8"?>
<p:tagLst xmlns:p="http://schemas.openxmlformats.org/presentationml/2006/main">
  <p:tag name="KSO_WM_DIAGRAM_VIRTUALLY_FRAME" val="{&quot;height&quot;:402.85,&quot;left&quot;:27.2,&quot;top&quot;:80.25,&quot;width&quot;:932.5600000000001}"/>
</p:tagLst>
</file>

<file path=ppt/theme/theme1.xml><?xml version="1.0" encoding="utf-8"?>
<a:theme xmlns:a="http://schemas.openxmlformats.org/drawingml/2006/main" name="大都市">
  <a:themeElements>
    <a:clrScheme name="大都市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50B4C8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大都市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大都市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TM03457491[[fn=大都市]]</Template>
  <TotalTime>0</TotalTime>
  <Words>4186</Words>
  <Application>WPS 演示</Application>
  <PresentationFormat>宽屏</PresentationFormat>
  <Paragraphs>221</Paragraphs>
  <Slides>10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5" baseType="lpstr">
      <vt:lpstr>Arial</vt:lpstr>
      <vt:lpstr>宋体</vt:lpstr>
      <vt:lpstr>Wingdings</vt:lpstr>
      <vt:lpstr>Aptos</vt:lpstr>
      <vt:lpstr>Segoe UI</vt:lpstr>
      <vt:lpstr>Aptos</vt:lpstr>
      <vt:lpstr>Aptos</vt:lpstr>
      <vt:lpstr>Aptos Display</vt:lpstr>
      <vt:lpstr>Aptos Display</vt:lpstr>
      <vt:lpstr>Aptos Display</vt:lpstr>
      <vt:lpstr>Calibri Light</vt:lpstr>
      <vt:lpstr>Arial Unicode MS</vt:lpstr>
      <vt:lpstr>微软雅黑</vt:lpstr>
      <vt:lpstr>等线</vt:lpstr>
      <vt:lpstr>大都市</vt:lpstr>
      <vt:lpstr>Super LOL Assisatant		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SuperLOL Assistant (auto-generated)</dc:creator>
  <dc:subject>PptxGenJS Presentation</dc:subject>
  <cp:lastModifiedBy>lst</cp:lastModifiedBy>
  <cp:revision>11</cp:revision>
  <dcterms:created xsi:type="dcterms:W3CDTF">2026-02-10T04:31:00Z</dcterms:created>
  <dcterms:modified xsi:type="dcterms:W3CDTF">2026-02-10T19:05:23Z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A8778591550E4552B7D350D0DC24A7E1_12</vt:lpwstr>
  </property>
  <property fmtid="{D5CDD505-2E9C-101B-9397-08002B2CF9AE}" pid="3" name="KSOProductBuildVer">
    <vt:lpwstr>2052-12.1.0.25225</vt:lpwstr>
  </property>
</Properties>
</file>